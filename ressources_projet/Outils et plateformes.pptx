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38"/>
  </p:notesMasterIdLst>
  <p:sldIdLst>
    <p:sldId id="256" r:id="rId2"/>
    <p:sldId id="259" r:id="rId3"/>
    <p:sldId id="258" r:id="rId4"/>
    <p:sldId id="260" r:id="rId5"/>
    <p:sldId id="257" r:id="rId6"/>
    <p:sldId id="286" r:id="rId7"/>
    <p:sldId id="272" r:id="rId8"/>
    <p:sldId id="276" r:id="rId9"/>
    <p:sldId id="274" r:id="rId10"/>
    <p:sldId id="277" r:id="rId11"/>
    <p:sldId id="273" r:id="rId12"/>
    <p:sldId id="275" r:id="rId13"/>
    <p:sldId id="291" r:id="rId14"/>
    <p:sldId id="287" r:id="rId15"/>
    <p:sldId id="270" r:id="rId16"/>
    <p:sldId id="281" r:id="rId17"/>
    <p:sldId id="271" r:id="rId18"/>
    <p:sldId id="289" r:id="rId19"/>
    <p:sldId id="290" r:id="rId20"/>
    <p:sldId id="294" r:id="rId21"/>
    <p:sldId id="295" r:id="rId22"/>
    <p:sldId id="288" r:id="rId23"/>
    <p:sldId id="297" r:id="rId24"/>
    <p:sldId id="268" r:id="rId25"/>
    <p:sldId id="269" r:id="rId26"/>
    <p:sldId id="267" r:id="rId27"/>
    <p:sldId id="262" r:id="rId28"/>
    <p:sldId id="261" r:id="rId29"/>
    <p:sldId id="292" r:id="rId30"/>
    <p:sldId id="296" r:id="rId31"/>
    <p:sldId id="279" r:id="rId32"/>
    <p:sldId id="266" r:id="rId33"/>
    <p:sldId id="282" r:id="rId34"/>
    <p:sldId id="293" r:id="rId35"/>
    <p:sldId id="283" r:id="rId36"/>
    <p:sldId id="284" r:id="rId3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980" autoAdjust="0"/>
    <p:restoredTop sz="75000" autoAdjust="0"/>
  </p:normalViewPr>
  <p:slideViewPr>
    <p:cSldViewPr snapToGrid="0">
      <p:cViewPr varScale="1">
        <p:scale>
          <a:sx n="54" d="100"/>
          <a:sy n="54" d="100"/>
        </p:scale>
        <p:origin x="1254"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C953CDB-F637-4994-B42F-CE40D56E3399}" type="datetimeFigureOut">
              <a:rPr lang="fr-FR" smtClean="0"/>
              <a:t>28/01/2026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CF730FE-961B-4C95-B3D4-B3B76F6DBB33}" type="slidenum">
              <a:rPr lang="fr-FR" smtClean="0"/>
              <a:t>‹N°›</a:t>
            </a:fld>
            <a:endParaRPr lang="fr-FR"/>
          </a:p>
        </p:txBody>
      </p:sp>
    </p:spTree>
    <p:extLst>
      <p:ext uri="{BB962C8B-B14F-4D97-AF65-F5344CB8AC3E}">
        <p14:creationId xmlns:p14="http://schemas.microsoft.com/office/powerpoint/2010/main" val="8272781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smtClean="0"/>
              <a:t>J’interviens dans la licence depuis 2017 je suis ancienne</a:t>
            </a:r>
            <a:r>
              <a:rPr lang="fr-FR" baseline="0" dirty="0" smtClean="0"/>
              <a:t> étudiante de l’année spéciale et de la licence SID</a:t>
            </a:r>
            <a:endParaRPr lang="fr-FR" dirty="0"/>
          </a:p>
        </p:txBody>
      </p:sp>
      <p:sp>
        <p:nvSpPr>
          <p:cNvPr id="4" name="Espace réservé du numéro de diapositive 3"/>
          <p:cNvSpPr>
            <a:spLocks noGrp="1"/>
          </p:cNvSpPr>
          <p:nvPr>
            <p:ph type="sldNum" sz="quarter" idx="10"/>
          </p:nvPr>
        </p:nvSpPr>
        <p:spPr/>
        <p:txBody>
          <a:bodyPr/>
          <a:lstStyle/>
          <a:p>
            <a:fld id="{5CF730FE-961B-4C95-B3D4-B3B76F6DBB33}" type="slidenum">
              <a:rPr lang="fr-FR" smtClean="0"/>
              <a:t>2</a:t>
            </a:fld>
            <a:endParaRPr lang="fr-FR"/>
          </a:p>
        </p:txBody>
      </p:sp>
    </p:spTree>
    <p:extLst>
      <p:ext uri="{BB962C8B-B14F-4D97-AF65-F5344CB8AC3E}">
        <p14:creationId xmlns:p14="http://schemas.microsoft.com/office/powerpoint/2010/main" val="5158737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smtClean="0"/>
              <a:t>J’interviens dans la licence depuis 2017 je suis ancienne</a:t>
            </a:r>
            <a:r>
              <a:rPr lang="fr-FR" baseline="0" dirty="0" smtClean="0"/>
              <a:t> étudiante de l’année spéciale et de la licence SID</a:t>
            </a:r>
            <a:endParaRPr lang="fr-FR" dirty="0"/>
          </a:p>
        </p:txBody>
      </p:sp>
      <p:sp>
        <p:nvSpPr>
          <p:cNvPr id="4" name="Espace réservé du numéro de diapositive 3"/>
          <p:cNvSpPr>
            <a:spLocks noGrp="1"/>
          </p:cNvSpPr>
          <p:nvPr>
            <p:ph type="sldNum" sz="quarter" idx="10"/>
          </p:nvPr>
        </p:nvSpPr>
        <p:spPr/>
        <p:txBody>
          <a:bodyPr/>
          <a:lstStyle/>
          <a:p>
            <a:fld id="{5CF730FE-961B-4C95-B3D4-B3B76F6DBB33}" type="slidenum">
              <a:rPr lang="fr-FR" smtClean="0"/>
              <a:t>3</a:t>
            </a:fld>
            <a:endParaRPr lang="fr-FR"/>
          </a:p>
        </p:txBody>
      </p:sp>
    </p:spTree>
    <p:extLst>
      <p:ext uri="{BB962C8B-B14F-4D97-AF65-F5344CB8AC3E}">
        <p14:creationId xmlns:p14="http://schemas.microsoft.com/office/powerpoint/2010/main" val="5327870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5CF730FE-961B-4C95-B3D4-B3B76F6DBB33}" type="slidenum">
              <a:rPr lang="fr-FR" smtClean="0"/>
              <a:t>7</a:t>
            </a:fld>
            <a:endParaRPr lang="fr-FR"/>
          </a:p>
        </p:txBody>
      </p:sp>
    </p:spTree>
    <p:extLst>
      <p:ext uri="{BB962C8B-B14F-4D97-AF65-F5344CB8AC3E}">
        <p14:creationId xmlns:p14="http://schemas.microsoft.com/office/powerpoint/2010/main" val="5868830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5CF730FE-961B-4C95-B3D4-B3B76F6DBB33}" type="slidenum">
              <a:rPr lang="fr-FR" smtClean="0"/>
              <a:t>8</a:t>
            </a:fld>
            <a:endParaRPr lang="fr-FR"/>
          </a:p>
        </p:txBody>
      </p:sp>
    </p:spTree>
    <p:extLst>
      <p:ext uri="{BB962C8B-B14F-4D97-AF65-F5344CB8AC3E}">
        <p14:creationId xmlns:p14="http://schemas.microsoft.com/office/powerpoint/2010/main" val="16814636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smtClean="0"/>
              <a:t>Exemple : </a:t>
            </a:r>
            <a:r>
              <a:rPr lang="fr-FR" sz="1200" dirty="0" smtClean="0"/>
              <a:t>: la dimension temps.</a:t>
            </a:r>
            <a:endParaRPr lang="fr-FR" dirty="0"/>
          </a:p>
        </p:txBody>
      </p:sp>
      <p:sp>
        <p:nvSpPr>
          <p:cNvPr id="4" name="Espace réservé du numéro de diapositive 3"/>
          <p:cNvSpPr>
            <a:spLocks noGrp="1"/>
          </p:cNvSpPr>
          <p:nvPr>
            <p:ph type="sldNum" sz="quarter" idx="10"/>
          </p:nvPr>
        </p:nvSpPr>
        <p:spPr/>
        <p:txBody>
          <a:bodyPr/>
          <a:lstStyle/>
          <a:p>
            <a:fld id="{5CF730FE-961B-4C95-B3D4-B3B76F6DBB33}" type="slidenum">
              <a:rPr lang="fr-FR" smtClean="0"/>
              <a:t>9</a:t>
            </a:fld>
            <a:endParaRPr lang="fr-FR"/>
          </a:p>
        </p:txBody>
      </p:sp>
    </p:spTree>
    <p:extLst>
      <p:ext uri="{BB962C8B-B14F-4D97-AF65-F5344CB8AC3E}">
        <p14:creationId xmlns:p14="http://schemas.microsoft.com/office/powerpoint/2010/main" val="16061853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5CF730FE-961B-4C95-B3D4-B3B76F6DBB33}" type="slidenum">
              <a:rPr lang="fr-FR" smtClean="0"/>
              <a:t>10</a:t>
            </a:fld>
            <a:endParaRPr lang="fr-FR"/>
          </a:p>
        </p:txBody>
      </p:sp>
    </p:spTree>
    <p:extLst>
      <p:ext uri="{BB962C8B-B14F-4D97-AF65-F5344CB8AC3E}">
        <p14:creationId xmlns:p14="http://schemas.microsoft.com/office/powerpoint/2010/main" val="3401484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5CF730FE-961B-4C95-B3D4-B3B76F6DBB33}" type="slidenum">
              <a:rPr lang="fr-FR" smtClean="0"/>
              <a:t>11</a:t>
            </a:fld>
            <a:endParaRPr lang="fr-FR"/>
          </a:p>
        </p:txBody>
      </p:sp>
    </p:spTree>
    <p:extLst>
      <p:ext uri="{BB962C8B-B14F-4D97-AF65-F5344CB8AC3E}">
        <p14:creationId xmlns:p14="http://schemas.microsoft.com/office/powerpoint/2010/main" val="25905066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smtClean="0"/>
              <a:t>Les indicateurs de performance, que l’on préfère bien souvent dans leur forme</a:t>
            </a:r>
            <a:r>
              <a:rPr lang="fr-FR" baseline="0" dirty="0" smtClean="0"/>
              <a:t> </a:t>
            </a:r>
            <a:r>
              <a:rPr lang="fr-FR" dirty="0" smtClean="0"/>
              <a:t>américanisée KPI « Key Performance </a:t>
            </a:r>
            <a:r>
              <a:rPr lang="fr-FR" dirty="0" err="1" smtClean="0"/>
              <a:t>Indicators</a:t>
            </a:r>
            <a:r>
              <a:rPr lang="fr-FR" dirty="0" smtClean="0"/>
              <a:t> », suscitent un véritable</a:t>
            </a:r>
          </a:p>
          <a:p>
            <a:r>
              <a:rPr lang="fr-FR" dirty="0" smtClean="0"/>
              <a:t>engouement. On les voit partout. Pas une activité n’y échappe. Définir des indicateurs</a:t>
            </a:r>
            <a:r>
              <a:rPr lang="fr-FR" baseline="0" dirty="0" smtClean="0"/>
              <a:t> </a:t>
            </a:r>
            <a:r>
              <a:rPr lang="fr-FR" dirty="0" smtClean="0"/>
              <a:t>semble être la règle du moment.</a:t>
            </a:r>
          </a:p>
          <a:p>
            <a:r>
              <a:rPr lang="fr-FR" dirty="0" smtClean="0"/>
              <a:t>Cela dit, c’est compréhensible. Avec l’incertitude ambiante, mesurer la performance</a:t>
            </a:r>
            <a:r>
              <a:rPr lang="fr-FR" baseline="0" dirty="0" smtClean="0"/>
              <a:t> </a:t>
            </a:r>
            <a:r>
              <a:rPr lang="fr-FR" dirty="0" smtClean="0"/>
              <a:t>rassure.</a:t>
            </a:r>
          </a:p>
          <a:p>
            <a:r>
              <a:rPr lang="fr-FR" dirty="0" smtClean="0"/>
              <a:t>Mais quelle performance ?</a:t>
            </a:r>
            <a:r>
              <a:rPr lang="fr-FR" baseline="0" dirty="0" smtClean="0"/>
              <a:t> </a:t>
            </a:r>
            <a:r>
              <a:rPr lang="fr-FR" dirty="0" smtClean="0"/>
              <a:t>Là on ne sait plus. C’est le paradoxe.</a:t>
            </a:r>
            <a:endParaRPr lang="fr-FR" dirty="0"/>
          </a:p>
        </p:txBody>
      </p:sp>
      <p:sp>
        <p:nvSpPr>
          <p:cNvPr id="4" name="Espace réservé du numéro de diapositive 3"/>
          <p:cNvSpPr>
            <a:spLocks noGrp="1"/>
          </p:cNvSpPr>
          <p:nvPr>
            <p:ph type="sldNum" sz="quarter" idx="10"/>
          </p:nvPr>
        </p:nvSpPr>
        <p:spPr/>
        <p:txBody>
          <a:bodyPr/>
          <a:lstStyle/>
          <a:p>
            <a:fld id="{5CF730FE-961B-4C95-B3D4-B3B76F6DBB33}" type="slidenum">
              <a:rPr lang="fr-FR" smtClean="0"/>
              <a:t>12</a:t>
            </a:fld>
            <a:endParaRPr lang="fr-FR"/>
          </a:p>
        </p:txBody>
      </p:sp>
    </p:spTree>
    <p:extLst>
      <p:ext uri="{BB962C8B-B14F-4D97-AF65-F5344CB8AC3E}">
        <p14:creationId xmlns:p14="http://schemas.microsoft.com/office/powerpoint/2010/main" val="38635739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smtClean="0"/>
              <a:t>Les indicateurs de performance, que l’on préfère bien souvent dans leur forme</a:t>
            </a:r>
            <a:r>
              <a:rPr lang="fr-FR" baseline="0" dirty="0" smtClean="0"/>
              <a:t> </a:t>
            </a:r>
            <a:r>
              <a:rPr lang="fr-FR" dirty="0" smtClean="0"/>
              <a:t>américanisée KPI « Key Performance </a:t>
            </a:r>
            <a:r>
              <a:rPr lang="fr-FR" dirty="0" err="1" smtClean="0"/>
              <a:t>Indicators</a:t>
            </a:r>
            <a:r>
              <a:rPr lang="fr-FR" dirty="0" smtClean="0"/>
              <a:t> », suscitent un véritable</a:t>
            </a:r>
          </a:p>
          <a:p>
            <a:r>
              <a:rPr lang="fr-FR" dirty="0" smtClean="0"/>
              <a:t>engouement. On les voit partout. Pas une activité n’y échappe. Définir des indicateurs</a:t>
            </a:r>
            <a:r>
              <a:rPr lang="fr-FR" baseline="0" dirty="0" smtClean="0"/>
              <a:t> </a:t>
            </a:r>
            <a:r>
              <a:rPr lang="fr-FR" dirty="0" smtClean="0"/>
              <a:t>semble être la règle du moment.</a:t>
            </a:r>
          </a:p>
          <a:p>
            <a:r>
              <a:rPr lang="fr-FR" dirty="0" smtClean="0"/>
              <a:t>Cela dit, c’est compréhensible. Avec l’incertitude ambiante, mesurer la performance</a:t>
            </a:r>
            <a:r>
              <a:rPr lang="fr-FR" baseline="0" dirty="0" smtClean="0"/>
              <a:t> </a:t>
            </a:r>
            <a:r>
              <a:rPr lang="fr-FR" dirty="0" smtClean="0"/>
              <a:t>rassure.</a:t>
            </a:r>
          </a:p>
          <a:p>
            <a:r>
              <a:rPr lang="fr-FR" dirty="0" smtClean="0"/>
              <a:t>Mais quelle performance ?</a:t>
            </a:r>
            <a:r>
              <a:rPr lang="fr-FR" baseline="0" dirty="0" smtClean="0"/>
              <a:t> </a:t>
            </a:r>
            <a:r>
              <a:rPr lang="fr-FR" dirty="0" smtClean="0"/>
              <a:t>Là on ne sait plus. C’est le paradoxe.</a:t>
            </a:r>
            <a:endParaRPr lang="fr-FR" dirty="0"/>
          </a:p>
        </p:txBody>
      </p:sp>
      <p:sp>
        <p:nvSpPr>
          <p:cNvPr id="4" name="Espace réservé du numéro de diapositive 3"/>
          <p:cNvSpPr>
            <a:spLocks noGrp="1"/>
          </p:cNvSpPr>
          <p:nvPr>
            <p:ph type="sldNum" sz="quarter" idx="10"/>
          </p:nvPr>
        </p:nvSpPr>
        <p:spPr/>
        <p:txBody>
          <a:bodyPr/>
          <a:lstStyle/>
          <a:p>
            <a:fld id="{5CF730FE-961B-4C95-B3D4-B3B76F6DBB33}" type="slidenum">
              <a:rPr lang="fr-FR" smtClean="0"/>
              <a:t>13</a:t>
            </a:fld>
            <a:endParaRPr lang="fr-FR"/>
          </a:p>
        </p:txBody>
      </p:sp>
    </p:spTree>
    <p:extLst>
      <p:ext uri="{BB962C8B-B14F-4D97-AF65-F5344CB8AC3E}">
        <p14:creationId xmlns:p14="http://schemas.microsoft.com/office/powerpoint/2010/main" val="23352104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200" b="1" dirty="0" smtClean="0"/>
              <a:t>La première étape </a:t>
            </a:r>
            <a:r>
              <a:rPr lang="fr-FR" sz="1200" dirty="0" smtClean="0"/>
              <a:t>de collecte des données consiste</a:t>
            </a:r>
            <a:r>
              <a:rPr lang="fr-FR" sz="1200" baseline="0" dirty="0" smtClean="0"/>
              <a:t> </a:t>
            </a:r>
            <a:r>
              <a:rPr lang="fr-FR" sz="1200" dirty="0" smtClean="0"/>
              <a:t>à détecter, à sélectionner, à extraire et à filtrer les données brutes issues des différentes sources hétérogènes (bases</a:t>
            </a:r>
            <a:r>
              <a:rPr lang="fr-FR" sz="1200" baseline="0" dirty="0" smtClean="0"/>
              <a:t> de données de production ou bases opérationnelles, fichier </a:t>
            </a:r>
            <a:r>
              <a:rPr lang="fr-FR" sz="1200" baseline="0" dirty="0" err="1" smtClean="0"/>
              <a:t>excel</a:t>
            </a:r>
            <a:r>
              <a:rPr lang="fr-FR" sz="1200" baseline="0" dirty="0" smtClean="0"/>
              <a:t> …). </a:t>
            </a:r>
            <a:r>
              <a:rPr lang="fr-FR" dirty="0" smtClean="0"/>
              <a:t>fichiers plats, fichiers Excel, base de données (DB2, Oracle, SQL Server, etc.), service web, données massives et stockées dans un entrepôt de données.</a:t>
            </a:r>
          </a:p>
          <a:p>
            <a:pPr marL="171450" indent="-171450">
              <a:buFont typeface="Arial" panose="020B0604020202020204" pitchFamily="34" charset="0"/>
              <a:buChar char="•"/>
            </a:pPr>
            <a:r>
              <a:rPr lang="fr-FR" sz="1200" baseline="0" dirty="0" smtClean="0"/>
              <a:t>L’information est souvent riche mais éparse ce qui ne permet pas d’avoir une vision globale et cohérente. Des informations manipulés par les différents services ou métiers. P</a:t>
            </a:r>
            <a:r>
              <a:rPr lang="fr-FR" sz="1200" dirty="0" smtClean="0"/>
              <a:t>our obtenir des indicateurs utiles dans le cadre de l’aide à la décision. Les sources de données internes et/ou externes étant souvent hétérogènes tant sur le plan technique que sur le plan sémantique, cette fonction est la plus délicate à mettre en place dans un système décisionnel complexe.</a:t>
            </a:r>
          </a:p>
          <a:p>
            <a:pPr marL="171450" indent="-171450">
              <a:buFont typeface="Arial" panose="020B0604020202020204" pitchFamily="34" charset="0"/>
              <a:buChar char="•"/>
            </a:pPr>
            <a:r>
              <a:rPr lang="fr-FR" sz="1200" b="1" dirty="0" smtClean="0"/>
              <a:t>Lors</a:t>
            </a:r>
            <a:r>
              <a:rPr lang="fr-FR" sz="1200" b="1" baseline="0" dirty="0" smtClean="0"/>
              <a:t> de la deuxième étape </a:t>
            </a:r>
            <a:r>
              <a:rPr lang="fr-FR" sz="1200" baseline="0" dirty="0" smtClean="0"/>
              <a:t>les données sont </a:t>
            </a:r>
            <a:r>
              <a:rPr lang="fr-FR" sz="1200" dirty="0" smtClean="0"/>
              <a:t>extraites, transformées et chargées ou stockées  dans un entrepôt de données (ou</a:t>
            </a:r>
            <a:r>
              <a:rPr lang="fr-FR" sz="1200" baseline="0" dirty="0" smtClean="0"/>
              <a:t> </a:t>
            </a:r>
            <a:r>
              <a:rPr lang="fr-FR" sz="1200" baseline="0" dirty="0" err="1" smtClean="0"/>
              <a:t>datawarehouse</a:t>
            </a:r>
            <a:r>
              <a:rPr lang="fr-FR" sz="1200" dirty="0" smtClean="0"/>
              <a:t>) par un outil de type ETL (</a:t>
            </a:r>
            <a:r>
              <a:rPr lang="fr-FR" sz="1200" dirty="0" err="1" smtClean="0"/>
              <a:t>Extract-Tranform-Load</a:t>
            </a:r>
            <a:r>
              <a:rPr lang="fr-FR" sz="1200" dirty="0" smtClean="0"/>
              <a:t>) ou en français ETC (Extraction-Transformation-Chargement). L’outil d’ETL permet la synchronisation de données de tous types dans notre </a:t>
            </a:r>
            <a:r>
              <a:rPr lang="fr-FR" sz="1200" dirty="0" err="1" smtClean="0"/>
              <a:t>datawarehouse</a:t>
            </a:r>
            <a:r>
              <a:rPr lang="fr-FR" sz="1200" dirty="0" smtClean="0"/>
              <a:t> et nos </a:t>
            </a:r>
            <a:r>
              <a:rPr lang="fr-FR" sz="1200" dirty="0" err="1" smtClean="0"/>
              <a:t>datamarts</a:t>
            </a:r>
            <a:r>
              <a:rPr lang="fr-FR" sz="1200" dirty="0" smtClean="0"/>
              <a:t>.</a:t>
            </a:r>
            <a:r>
              <a:rPr lang="fr-FR" sz="1200" baseline="0" dirty="0" smtClean="0"/>
              <a:t> </a:t>
            </a:r>
            <a:r>
              <a:rPr lang="fr-FR" sz="1200" dirty="0" smtClean="0"/>
              <a:t>Un ETL repose sur des connecteurs permettant l’extraction ou l’importation des données de types divers (bases de données de tout type, fichiers </a:t>
            </a:r>
            <a:r>
              <a:rPr lang="fr-FR" sz="1200" dirty="0" err="1" smtClean="0"/>
              <a:t>xml</a:t>
            </a:r>
            <a:r>
              <a:rPr lang="fr-FR" sz="1200" dirty="0" smtClean="0"/>
              <a:t> ou autres formats, …) et sur des transformateurs qui manipulent les données : agrégations, filtres, conversions, mises en correspondance. Ainsi un tel outil va aller chercher les données d’une entreprise, les transformer pour les mettre en commun et les rendre utilisables dans le cadre de l’aide à la décision pour enfin les injecter dans un entrepôt de données. </a:t>
            </a:r>
            <a:r>
              <a:rPr lang="fr-FR" sz="1200" baseline="0" dirty="0" smtClean="0"/>
              <a:t> </a:t>
            </a:r>
            <a:r>
              <a:rPr lang="fr-FR" sz="1200" dirty="0" smtClean="0"/>
              <a:t>Ces actions peuvent être effectuées de manière périodique via l’utilisation de </a:t>
            </a:r>
            <a:r>
              <a:rPr lang="fr-FR" sz="1200" dirty="0" err="1" smtClean="0"/>
              <a:t>batchs</a:t>
            </a:r>
            <a:r>
              <a:rPr lang="fr-FR" sz="1200" dirty="0" smtClean="0"/>
              <a:t>. Par exemple l’action d’extraction, de transformation et de chargement peut être lancée tous les soirs à minuit lorsque plus aucune application n’est utilisée.</a:t>
            </a:r>
          </a:p>
          <a:p>
            <a:pPr marL="171450" indent="-171450">
              <a:buFont typeface="Arial" panose="020B0604020202020204" pitchFamily="34" charset="0"/>
              <a:buChar char="•"/>
            </a:pPr>
            <a:r>
              <a:rPr lang="fr-FR" sz="1200" b="1" dirty="0" smtClean="0"/>
              <a:t>Cette dernière étape</a:t>
            </a:r>
            <a:r>
              <a:rPr lang="fr-FR" sz="1200" dirty="0" smtClean="0"/>
              <a:t>, également appelée </a:t>
            </a:r>
            <a:r>
              <a:rPr lang="fr-FR" sz="1200" dirty="0" err="1" smtClean="0"/>
              <a:t>reporting</a:t>
            </a:r>
            <a:r>
              <a:rPr lang="fr-FR" sz="1200" dirty="0" smtClean="0"/>
              <a:t> ou restitution, se charge de présenter les informations à valeur ajoutée de telle sorte qu'elles apparaissent de la façon la plus lisible possible dans le cadre de l’aide à la décision. Les données sont principalement modélisées par des représentations à base de requêtes afin de constituer des tableaux de bord ou des rapports via des outils d'analyse décisionnelle.</a:t>
            </a:r>
          </a:p>
          <a:p>
            <a:endParaRPr lang="fr-FR" sz="1200" dirty="0" smtClean="0"/>
          </a:p>
          <a:p>
            <a:pPr marL="0" marR="0" lvl="0" indent="0" algn="l" defTabSz="914400" rtl="0" eaLnBrk="1" fontAlgn="auto" latinLnBrk="0" hangingPunct="1">
              <a:lnSpc>
                <a:spcPct val="100000"/>
              </a:lnSpc>
              <a:spcBef>
                <a:spcPts val="0"/>
              </a:spcBef>
              <a:spcAft>
                <a:spcPts val="0"/>
              </a:spcAft>
              <a:buClrTx/>
              <a:buSzTx/>
              <a:buFontTx/>
              <a:buNone/>
              <a:tabLst/>
              <a:defRPr/>
            </a:pPr>
            <a:endParaRPr lang="fr-FR" dirty="0" smtClean="0"/>
          </a:p>
          <a:p>
            <a:endParaRPr lang="fr-FR" dirty="0" smtClean="0"/>
          </a:p>
          <a:p>
            <a:endParaRPr lang="fr-FR" dirty="0" smtClean="0"/>
          </a:p>
          <a:p>
            <a:endParaRPr lang="fr-FR" dirty="0"/>
          </a:p>
        </p:txBody>
      </p:sp>
      <p:sp>
        <p:nvSpPr>
          <p:cNvPr id="4" name="Espace réservé du numéro de diapositive 3"/>
          <p:cNvSpPr>
            <a:spLocks noGrp="1"/>
          </p:cNvSpPr>
          <p:nvPr>
            <p:ph type="sldNum" sz="quarter" idx="10"/>
          </p:nvPr>
        </p:nvSpPr>
        <p:spPr/>
        <p:txBody>
          <a:bodyPr/>
          <a:lstStyle/>
          <a:p>
            <a:fld id="{5CF730FE-961B-4C95-B3D4-B3B76F6DBB33}" type="slidenum">
              <a:rPr lang="fr-FR" smtClean="0"/>
              <a:t>17</a:t>
            </a:fld>
            <a:endParaRPr lang="fr-FR"/>
          </a:p>
        </p:txBody>
      </p:sp>
    </p:spTree>
    <p:extLst>
      <p:ext uri="{BB962C8B-B14F-4D97-AF65-F5344CB8AC3E}">
        <p14:creationId xmlns:p14="http://schemas.microsoft.com/office/powerpoint/2010/main" val="28572647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smtClean="0"/>
              <a:t>Déployer la stratégie exige un système </a:t>
            </a:r>
            <a:r>
              <a:rPr lang="fr-FR" dirty="0" err="1" smtClean="0"/>
              <a:t>dʼinformation</a:t>
            </a:r>
            <a:r>
              <a:rPr lang="fr-FR" dirty="0" smtClean="0"/>
              <a:t> décisionnel</a:t>
            </a:r>
            <a:r>
              <a:rPr lang="fr-FR" baseline="0" dirty="0" smtClean="0"/>
              <a:t> </a:t>
            </a:r>
            <a:r>
              <a:rPr lang="fr-FR" dirty="0" smtClean="0"/>
              <a:t>cohérent</a:t>
            </a:r>
            <a:r>
              <a:rPr lang="fr-FR" baseline="0" dirty="0" smtClean="0"/>
              <a:t> </a:t>
            </a:r>
            <a:r>
              <a:rPr lang="fr-FR" dirty="0" smtClean="0"/>
              <a:t>Il est assez paradoxal de constater l’écart abyssal existant entre la stratégie poursuivie par une organisation et la structure de son système de Business Intelligence.</a:t>
            </a:r>
            <a:r>
              <a:rPr lang="fr-FR" baseline="0" dirty="0" smtClean="0"/>
              <a:t> </a:t>
            </a:r>
            <a:r>
              <a:rPr lang="fr-FR" dirty="0" smtClean="0"/>
              <a:t>Les temps d’incertitude que nous vivons au quotidien</a:t>
            </a:r>
          </a:p>
          <a:p>
            <a:r>
              <a:rPr lang="fr-FR" dirty="0" smtClean="0"/>
              <a:t>depuis déjà quelques décennies ont propulsé le pilotage de la performance au premier</a:t>
            </a:r>
            <a:r>
              <a:rPr lang="fr-FR" baseline="0" dirty="0" smtClean="0"/>
              <a:t> </a:t>
            </a:r>
            <a:r>
              <a:rPr lang="fr-FR" dirty="0" smtClean="0"/>
              <a:t>plan des préoccupations. L’erreur de direction ne pardonne plus.</a:t>
            </a:r>
          </a:p>
          <a:p>
            <a:endParaRPr lang="fr-FR" dirty="0" smtClean="0"/>
          </a:p>
          <a:p>
            <a:r>
              <a:rPr lang="fr-FR" dirty="0" smtClean="0"/>
              <a:t>Sans aucun rapport avec la stratégie poursuivie, les systèmes d’information</a:t>
            </a:r>
            <a:r>
              <a:rPr lang="fr-FR" baseline="0" dirty="0" smtClean="0"/>
              <a:t> </a:t>
            </a:r>
            <a:r>
              <a:rPr lang="fr-FR" dirty="0" smtClean="0"/>
              <a:t>décisionnels ainsi conçus se résument à un empilage de </a:t>
            </a:r>
            <a:r>
              <a:rPr lang="fr-FR" dirty="0" err="1" smtClean="0"/>
              <a:t>reportings</a:t>
            </a:r>
            <a:r>
              <a:rPr lang="fr-FR" dirty="0" smtClean="0"/>
              <a:t> chapeauté d’une</a:t>
            </a:r>
            <a:r>
              <a:rPr lang="fr-FR" baseline="0" dirty="0" smtClean="0"/>
              <a:t> </a:t>
            </a:r>
            <a:r>
              <a:rPr lang="fr-FR" dirty="0" smtClean="0"/>
              <a:t>poignée de tableaux de bord dits « stratégiques ». Monolithiques et rigides, ils</a:t>
            </a:r>
            <a:r>
              <a:rPr lang="fr-FR" baseline="0" dirty="0" smtClean="0"/>
              <a:t> </a:t>
            </a:r>
            <a:r>
              <a:rPr lang="fr-FR" dirty="0" smtClean="0"/>
              <a:t>écrèment au passage toute la richesse et la saveur de l’information. Bref, rien de bon</a:t>
            </a:r>
            <a:r>
              <a:rPr lang="fr-FR" baseline="0" dirty="0" smtClean="0"/>
              <a:t> </a:t>
            </a:r>
            <a:r>
              <a:rPr lang="fr-FR" dirty="0" smtClean="0"/>
              <a:t>pour la décision. Aussi pauvrement assistée, la stratégie, une fois déployée, a bien peu</a:t>
            </a:r>
            <a:r>
              <a:rPr lang="fr-FR" baseline="0" dirty="0" smtClean="0"/>
              <a:t> </a:t>
            </a:r>
            <a:r>
              <a:rPr lang="fr-FR" dirty="0" smtClean="0"/>
              <a:t>de chance de passer au stade opérationnel.</a:t>
            </a:r>
            <a:endParaRPr lang="fr-FR" dirty="0"/>
          </a:p>
        </p:txBody>
      </p:sp>
      <p:sp>
        <p:nvSpPr>
          <p:cNvPr id="4" name="Espace réservé du numéro de diapositive 3"/>
          <p:cNvSpPr>
            <a:spLocks noGrp="1"/>
          </p:cNvSpPr>
          <p:nvPr>
            <p:ph type="sldNum" sz="quarter" idx="10"/>
          </p:nvPr>
        </p:nvSpPr>
        <p:spPr/>
        <p:txBody>
          <a:bodyPr/>
          <a:lstStyle/>
          <a:p>
            <a:fld id="{5CF730FE-961B-4C95-B3D4-B3B76F6DBB33}" type="slidenum">
              <a:rPr lang="fr-FR" smtClean="0"/>
              <a:t>18</a:t>
            </a:fld>
            <a:endParaRPr lang="fr-FR"/>
          </a:p>
        </p:txBody>
      </p:sp>
    </p:spTree>
    <p:extLst>
      <p:ext uri="{BB962C8B-B14F-4D97-AF65-F5344CB8AC3E}">
        <p14:creationId xmlns:p14="http://schemas.microsoft.com/office/powerpoint/2010/main" val="149546489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smtClean="0"/>
              <a:t>Dans système</a:t>
            </a:r>
            <a:r>
              <a:rPr lang="fr-FR" baseline="0" dirty="0" smtClean="0"/>
              <a:t> décisionnel : il y a décision</a:t>
            </a:r>
            <a:endParaRPr lang="fr-FR" dirty="0"/>
          </a:p>
        </p:txBody>
      </p:sp>
      <p:sp>
        <p:nvSpPr>
          <p:cNvPr id="4" name="Espace réservé du numéro de diapositive 3"/>
          <p:cNvSpPr>
            <a:spLocks noGrp="1"/>
          </p:cNvSpPr>
          <p:nvPr>
            <p:ph type="sldNum" sz="quarter" idx="10"/>
          </p:nvPr>
        </p:nvSpPr>
        <p:spPr/>
        <p:txBody>
          <a:bodyPr/>
          <a:lstStyle/>
          <a:p>
            <a:fld id="{5CF730FE-961B-4C95-B3D4-B3B76F6DBB33}" type="slidenum">
              <a:rPr lang="fr-FR" smtClean="0"/>
              <a:t>19</a:t>
            </a:fld>
            <a:endParaRPr lang="fr-FR"/>
          </a:p>
        </p:txBody>
      </p:sp>
    </p:spTree>
    <p:extLst>
      <p:ext uri="{BB962C8B-B14F-4D97-AF65-F5344CB8AC3E}">
        <p14:creationId xmlns:p14="http://schemas.microsoft.com/office/powerpoint/2010/main" val="4933676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smtClean="0"/>
              <a:t>Dans système</a:t>
            </a:r>
            <a:r>
              <a:rPr lang="fr-FR" baseline="0" dirty="0" smtClean="0"/>
              <a:t> décisionnel : il y a décision</a:t>
            </a:r>
            <a:endParaRPr lang="fr-FR" dirty="0"/>
          </a:p>
        </p:txBody>
      </p:sp>
      <p:sp>
        <p:nvSpPr>
          <p:cNvPr id="4" name="Espace réservé du numéro de diapositive 3"/>
          <p:cNvSpPr>
            <a:spLocks noGrp="1"/>
          </p:cNvSpPr>
          <p:nvPr>
            <p:ph type="sldNum" sz="quarter" idx="10"/>
          </p:nvPr>
        </p:nvSpPr>
        <p:spPr/>
        <p:txBody>
          <a:bodyPr/>
          <a:lstStyle/>
          <a:p>
            <a:fld id="{5CF730FE-961B-4C95-B3D4-B3B76F6DBB33}" type="slidenum">
              <a:rPr lang="fr-FR" smtClean="0"/>
              <a:t>21</a:t>
            </a:fld>
            <a:endParaRPr lang="fr-FR"/>
          </a:p>
        </p:txBody>
      </p:sp>
    </p:spTree>
    <p:extLst>
      <p:ext uri="{BB962C8B-B14F-4D97-AF65-F5344CB8AC3E}">
        <p14:creationId xmlns:p14="http://schemas.microsoft.com/office/powerpoint/2010/main" val="371563806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smtClean="0"/>
              <a:t>Pourquoi</a:t>
            </a:r>
            <a:r>
              <a:rPr lang="fr-FR" baseline="0" dirty="0" smtClean="0"/>
              <a:t> une modélisation en flocon ? Troisième forme normale , permet de mettre à jour plus facilement , moins de redondance dans les lignes, mais plus de jointures à faire.</a:t>
            </a:r>
          </a:p>
          <a:p>
            <a:r>
              <a:rPr lang="fr-FR" dirty="0" smtClean="0"/>
              <a:t>Faire une table bien vente/bien location</a:t>
            </a:r>
            <a:r>
              <a:rPr lang="fr-FR" baseline="0" dirty="0" smtClean="0"/>
              <a:t> , mettre un top dans la table de fait ? Mettre une seule date de visite, créer une tale région</a:t>
            </a:r>
          </a:p>
          <a:p>
            <a:endParaRPr lang="fr-FR" baseline="0" dirty="0" smtClean="0"/>
          </a:p>
          <a:p>
            <a:r>
              <a:rPr lang="fr-FR" dirty="0" smtClean="0"/>
              <a:t>Pourquoi</a:t>
            </a:r>
            <a:r>
              <a:rPr lang="fr-FR" baseline="0" dirty="0" smtClean="0"/>
              <a:t> une modélisation en flocon ? Troisième forme normale , permet de mettre à jour plus facilement , moins de redondance dans les lignes, mais plus de jointures à faire.</a:t>
            </a:r>
          </a:p>
          <a:p>
            <a:r>
              <a:rPr lang="fr-FR" dirty="0" smtClean="0"/>
              <a:t>Faire une table bien vente/bien location</a:t>
            </a:r>
            <a:r>
              <a:rPr lang="fr-FR" baseline="0" dirty="0" smtClean="0"/>
              <a:t> , mettre un top dans la table de fait ? Mettre une seule date de visite, créer une table région</a:t>
            </a:r>
            <a:endParaRPr lang="fr-FR" dirty="0" smtClean="0"/>
          </a:p>
          <a:p>
            <a:endParaRPr lang="fr-FR" dirty="0"/>
          </a:p>
        </p:txBody>
      </p:sp>
      <p:sp>
        <p:nvSpPr>
          <p:cNvPr id="4" name="Espace réservé du numéro de diapositive 3"/>
          <p:cNvSpPr>
            <a:spLocks noGrp="1"/>
          </p:cNvSpPr>
          <p:nvPr>
            <p:ph type="sldNum" sz="quarter" idx="10"/>
          </p:nvPr>
        </p:nvSpPr>
        <p:spPr/>
        <p:txBody>
          <a:bodyPr/>
          <a:lstStyle/>
          <a:p>
            <a:fld id="{5CF730FE-961B-4C95-B3D4-B3B76F6DBB33}" type="slidenum">
              <a:rPr lang="fr-FR" smtClean="0"/>
              <a:t>31</a:t>
            </a:fld>
            <a:endParaRPr lang="fr-FR"/>
          </a:p>
        </p:txBody>
      </p:sp>
    </p:spTree>
    <p:extLst>
      <p:ext uri="{BB962C8B-B14F-4D97-AF65-F5344CB8AC3E}">
        <p14:creationId xmlns:p14="http://schemas.microsoft.com/office/powerpoint/2010/main" val="4001654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5CF730FE-961B-4C95-B3D4-B3B76F6DBB33}" type="slidenum">
              <a:rPr lang="fr-FR" smtClean="0"/>
              <a:t>32</a:t>
            </a:fld>
            <a:endParaRPr lang="fr-FR"/>
          </a:p>
        </p:txBody>
      </p:sp>
    </p:spTree>
    <p:extLst>
      <p:ext uri="{BB962C8B-B14F-4D97-AF65-F5344CB8AC3E}">
        <p14:creationId xmlns:p14="http://schemas.microsoft.com/office/powerpoint/2010/main" val="12670632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11" name="Freeform 6"/>
          <p:cNvSpPr/>
          <p:nvPr/>
        </p:nvSpPr>
        <p:spPr bwMode="auto">
          <a:xfrm>
            <a:off x="0" y="-3175"/>
            <a:ext cx="12192000" cy="5203825"/>
          </a:xfrm>
          <a:custGeom>
            <a:avLst/>
            <a:gdLst/>
            <a:ahLst/>
            <a:cxnLst/>
            <a:rect l="0" t="0" r="r" b="b"/>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ln/>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810001" y="1449147"/>
            <a:ext cx="10572000" cy="2971051"/>
          </a:xfrm>
        </p:spPr>
        <p:txBody>
          <a:bodyPr/>
          <a:lstStyle>
            <a:lvl1pPr>
              <a:defRPr sz="5400"/>
            </a:lvl1pPr>
          </a:lstStyle>
          <a:p>
            <a:r>
              <a:rPr lang="fr-FR" smtClean="0"/>
              <a:t>Modifiez le style du titre</a:t>
            </a:r>
            <a:endParaRPr lang="en-US" dirty="0"/>
          </a:p>
        </p:txBody>
      </p:sp>
      <p:sp>
        <p:nvSpPr>
          <p:cNvPr id="3" name="Subtitle 2"/>
          <p:cNvSpPr>
            <a:spLocks noGrp="1"/>
          </p:cNvSpPr>
          <p:nvPr>
            <p:ph type="subTitle" idx="1"/>
          </p:nvPr>
        </p:nvSpPr>
        <p:spPr>
          <a:xfrm>
            <a:off x="810001" y="5280847"/>
            <a:ext cx="10572000" cy="434974"/>
          </a:xfrm>
        </p:spPr>
        <p:txBody>
          <a:bodyPr anchor="t"/>
          <a:lstStyle>
            <a:lvl1pPr marL="0" indent="0" algn="l">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smtClean="0"/>
              <a:t>Modifier le style des sous-titres du masque</a:t>
            </a:r>
            <a:endParaRPr lang="en-US" dirty="0"/>
          </a:p>
        </p:txBody>
      </p:sp>
      <p:sp>
        <p:nvSpPr>
          <p:cNvPr id="4" name="Date Placeholder 3"/>
          <p:cNvSpPr>
            <a:spLocks noGrp="1"/>
          </p:cNvSpPr>
          <p:nvPr>
            <p:ph type="dt" sz="half" idx="10"/>
          </p:nvPr>
        </p:nvSpPr>
        <p:spPr/>
        <p:txBody>
          <a:bodyPr/>
          <a:lstStyle/>
          <a:p>
            <a:fld id="{08B9EBBA-996F-894A-B54A-D6246ED52CEA}" type="datetimeFigureOut">
              <a:rPr lang="en-US" dirty="0"/>
              <a:pPr/>
              <a:t>1/28/2026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11"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447188"/>
            <a:ext cx="10571998" cy="970450"/>
          </a:xfrm>
        </p:spPr>
        <p:txBody>
          <a:bodyPr/>
          <a:lstStyle/>
          <a:p>
            <a:r>
              <a:rPr lang="fr-FR" smtClean="0"/>
              <a:t>Modifiez le style du titre</a:t>
            </a:r>
            <a:endParaRPr lang="en-US" dirty="0"/>
          </a:p>
        </p:txBody>
      </p:sp>
      <p:sp>
        <p:nvSpPr>
          <p:cNvPr id="3" name="Content Placeholder 2"/>
          <p:cNvSpPr>
            <a:spLocks noGrp="1"/>
          </p:cNvSpPr>
          <p:nvPr>
            <p:ph idx="1"/>
          </p:nvPr>
        </p:nvSpPr>
        <p:spPr>
          <a:xfrm>
            <a:off x="818712" y="2222287"/>
            <a:ext cx="10554574" cy="3636511"/>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10"/>
          </p:nvPr>
        </p:nvSpPr>
        <p:spPr/>
        <p:txBody>
          <a:bodyPr/>
          <a:lstStyle/>
          <a:p>
            <a:fld id="{9B3A1323-8D79-1946-B0D7-40001CF92E9D}" type="datetimeFigureOut">
              <a:rPr lang="en-US" dirty="0"/>
              <a:pPr/>
              <a:t>1/28/2026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10" name="Freeform 7"/>
          <p:cNvSpPr/>
          <p:nvPr/>
        </p:nvSpPr>
        <p:spPr bwMode="auto">
          <a:xfrm>
            <a:off x="0" y="1"/>
            <a:ext cx="12192000" cy="5203825"/>
          </a:xfrm>
          <a:custGeom>
            <a:avLst/>
            <a:gdLst/>
            <a:ahLst/>
            <a:cxnLst/>
            <a:rect l="0" t="0" r="r" b="b"/>
            <a:pathLst>
              <a:path w="5760" h="3278">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a:ln>
            <a:headEnd/>
            <a:tailEnd/>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2951396"/>
            <a:ext cx="10561418" cy="1468800"/>
          </a:xfrm>
        </p:spPr>
        <p:txBody>
          <a:bodyPr anchor="b"/>
          <a:lstStyle>
            <a:lvl1pPr algn="r">
              <a:defRPr sz="4800" b="1" cap="none"/>
            </a:lvl1pPr>
          </a:lstStyle>
          <a:p>
            <a:r>
              <a:rPr lang="fr-FR" smtClean="0"/>
              <a:t>Modifiez le style du titre</a:t>
            </a:r>
            <a:endParaRPr lang="en-US" dirty="0"/>
          </a:p>
        </p:txBody>
      </p:sp>
      <p:sp>
        <p:nvSpPr>
          <p:cNvPr id="3" name="Text Placeholder 2"/>
          <p:cNvSpPr>
            <a:spLocks noGrp="1"/>
          </p:cNvSpPr>
          <p:nvPr>
            <p:ph type="body" idx="1"/>
          </p:nvPr>
        </p:nvSpPr>
        <p:spPr>
          <a:xfrm>
            <a:off x="810000" y="5281201"/>
            <a:ext cx="10561418" cy="433955"/>
          </a:xfrm>
        </p:spPr>
        <p:txBody>
          <a:bodyPr anchor="t">
            <a:no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Modifier les styles du texte du masque</a:t>
            </a:r>
          </a:p>
        </p:txBody>
      </p:sp>
      <p:sp>
        <p:nvSpPr>
          <p:cNvPr id="4" name="Date Placeholder 3"/>
          <p:cNvSpPr>
            <a:spLocks noGrp="1"/>
          </p:cNvSpPr>
          <p:nvPr>
            <p:ph type="dt" sz="half" idx="10"/>
          </p:nvPr>
        </p:nvSpPr>
        <p:spPr/>
        <p:txBody>
          <a:bodyPr/>
          <a:lstStyle/>
          <a:p>
            <a:fld id="{8DFA1846-DA80-1C48-A609-854EA85C59AD}" type="datetimeFigureOut">
              <a:rPr lang="en-US" dirty="0"/>
              <a:pPr/>
              <a:t>1/28/2026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8"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fr-FR" smtClean="0"/>
              <a:t>Modifiez le style du titre</a:t>
            </a:r>
            <a:endParaRPr lang="en-US" dirty="0"/>
          </a:p>
        </p:txBody>
      </p:sp>
      <p:sp>
        <p:nvSpPr>
          <p:cNvPr id="3" name="Content Placeholder 2"/>
          <p:cNvSpPr>
            <a:spLocks noGrp="1"/>
          </p:cNvSpPr>
          <p:nvPr>
            <p:ph sz="half" idx="1"/>
          </p:nvPr>
        </p:nvSpPr>
        <p:spPr>
          <a:xfrm>
            <a:off x="818712" y="2222287"/>
            <a:ext cx="5185873" cy="3638763"/>
          </a:xfrm>
        </p:spPr>
        <p:txBody>
          <a:bodyPr>
            <a:normAutofit/>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Content Placeholder 3"/>
          <p:cNvSpPr>
            <a:spLocks noGrp="1"/>
          </p:cNvSpPr>
          <p:nvPr>
            <p:ph sz="half" idx="2"/>
          </p:nvPr>
        </p:nvSpPr>
        <p:spPr>
          <a:xfrm>
            <a:off x="6187415" y="2222287"/>
            <a:ext cx="5194583" cy="3638764"/>
          </a:xfrm>
        </p:spPr>
        <p:txBody>
          <a:bodyPr>
            <a:normAutofit/>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5" name="Date Placeholder 4"/>
          <p:cNvSpPr>
            <a:spLocks noGrp="1"/>
          </p:cNvSpPr>
          <p:nvPr>
            <p:ph type="dt" sz="half" idx="10"/>
          </p:nvPr>
        </p:nvSpPr>
        <p:spPr/>
        <p:txBody>
          <a:bodyPr/>
          <a:lstStyle/>
          <a:p>
            <a:fld id="{57302355-E14B-8545-A8F8-0FE83CC9D524}" type="datetimeFigureOut">
              <a:rPr lang="en-US" dirty="0"/>
              <a:pPr/>
              <a:t>1/28/2026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10"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lvl1pPr>
              <a:defRPr/>
            </a:lvl1pPr>
          </a:lstStyle>
          <a:p>
            <a:r>
              <a:rPr lang="fr-FR" smtClean="0"/>
              <a:t>Modifiez le style du titre</a:t>
            </a:r>
            <a:endParaRPr lang="en-US" dirty="0"/>
          </a:p>
        </p:txBody>
      </p:sp>
      <p:sp>
        <p:nvSpPr>
          <p:cNvPr id="3" name="Text Placeholder 2"/>
          <p:cNvSpPr>
            <a:spLocks noGrp="1"/>
          </p:cNvSpPr>
          <p:nvPr>
            <p:ph type="body" idx="1"/>
          </p:nvPr>
        </p:nvSpPr>
        <p:spPr>
          <a:xfrm>
            <a:off x="814728" y="2174875"/>
            <a:ext cx="5189857"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4" name="Content Placeholder 3"/>
          <p:cNvSpPr>
            <a:spLocks noGrp="1"/>
          </p:cNvSpPr>
          <p:nvPr>
            <p:ph sz="half" idx="2"/>
          </p:nvPr>
        </p:nvSpPr>
        <p:spPr>
          <a:xfrm>
            <a:off x="814729" y="2751138"/>
            <a:ext cx="5189856" cy="3109913"/>
          </a:xfrm>
        </p:spPr>
        <p:txBody>
          <a:bodyPr anchor="t">
            <a:normAutofit/>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5" name="Text Placeholder 4"/>
          <p:cNvSpPr>
            <a:spLocks noGrp="1"/>
          </p:cNvSpPr>
          <p:nvPr>
            <p:ph type="body" sz="quarter" idx="3"/>
          </p:nvPr>
        </p:nvSpPr>
        <p:spPr>
          <a:xfrm>
            <a:off x="6187415" y="2174875"/>
            <a:ext cx="5194583"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6" name="Content Placeholder 5"/>
          <p:cNvSpPr>
            <a:spLocks noGrp="1"/>
          </p:cNvSpPr>
          <p:nvPr>
            <p:ph sz="quarter" idx="4"/>
          </p:nvPr>
        </p:nvSpPr>
        <p:spPr>
          <a:xfrm>
            <a:off x="6187415" y="2751138"/>
            <a:ext cx="5194583" cy="3109913"/>
          </a:xfrm>
        </p:spPr>
        <p:txBody>
          <a:bodyPr anchor="t">
            <a:normAutofit/>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7" name="Date Placeholder 6"/>
          <p:cNvSpPr>
            <a:spLocks noGrp="1"/>
          </p:cNvSpPr>
          <p:nvPr>
            <p:ph type="dt" sz="half" idx="10"/>
          </p:nvPr>
        </p:nvSpPr>
        <p:spPr/>
        <p:txBody>
          <a:bodyPr/>
          <a:lstStyle/>
          <a:p>
            <a:fld id="{02640F58-564D-2B4F-AE67-E407BA4FCF45}" type="datetimeFigureOut">
              <a:rPr lang="en-US" dirty="0"/>
              <a:pPr/>
              <a:t>1/28/2026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6"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fr-FR" smtClean="0"/>
              <a:t>Modifiez le style du titre</a:t>
            </a:r>
            <a:endParaRPr lang="en-US" dirty="0"/>
          </a:p>
        </p:txBody>
      </p:sp>
      <p:sp>
        <p:nvSpPr>
          <p:cNvPr id="3" name="Date Placeholder 2"/>
          <p:cNvSpPr>
            <a:spLocks noGrp="1"/>
          </p:cNvSpPr>
          <p:nvPr>
            <p:ph type="dt" sz="half" idx="10"/>
          </p:nvPr>
        </p:nvSpPr>
        <p:spPr/>
        <p:txBody>
          <a:bodyPr/>
          <a:lstStyle/>
          <a:p>
            <a:fld id="{F13A34C8-038E-2045-AF43-DF7DBB8E0E9E}" type="datetimeFigureOut">
              <a:rPr lang="en-US" dirty="0"/>
              <a:pPr/>
              <a:t>1/28/2026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818C68F-D26B-8F47-958C-23B49CF8A634}" type="datetimeFigureOut">
              <a:rPr lang="en-US" dirty="0"/>
              <a:pPr/>
              <a:t>1/28/2026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12" name="Freeform 6"/>
          <p:cNvSpPr>
            <a:spLocks noChangeAspect="1"/>
          </p:cNvSpPr>
          <p:nvPr/>
        </p:nvSpPr>
        <p:spPr bwMode="auto">
          <a:xfrm>
            <a:off x="1073151" y="446087"/>
            <a:ext cx="3547533" cy="1814651"/>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1073151" y="446088"/>
            <a:ext cx="3547533" cy="1618396"/>
          </a:xfrm>
        </p:spPr>
        <p:txBody>
          <a:bodyPr anchor="b"/>
          <a:lstStyle>
            <a:lvl1pPr algn="l">
              <a:defRPr sz="2000" b="1"/>
            </a:lvl1pPr>
          </a:lstStyle>
          <a:p>
            <a:r>
              <a:rPr lang="fr-FR" smtClean="0"/>
              <a:t>Modifiez le style du titre</a:t>
            </a:r>
            <a:endParaRPr lang="en-US" dirty="0"/>
          </a:p>
        </p:txBody>
      </p:sp>
      <p:sp>
        <p:nvSpPr>
          <p:cNvPr id="3" name="Content Placeholder 2"/>
          <p:cNvSpPr>
            <a:spLocks noGrp="1"/>
          </p:cNvSpPr>
          <p:nvPr>
            <p:ph idx="1"/>
          </p:nvPr>
        </p:nvSpPr>
        <p:spPr>
          <a:xfrm>
            <a:off x="4855633" y="446088"/>
            <a:ext cx="6252633" cy="5414963"/>
          </a:xfrm>
        </p:spPr>
        <p:txBody>
          <a:bodyPr>
            <a:normAutofit/>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Text Placeholder 3"/>
          <p:cNvSpPr>
            <a:spLocks noGrp="1"/>
          </p:cNvSpPr>
          <p:nvPr>
            <p:ph type="body" sz="half" idx="2"/>
          </p:nvPr>
        </p:nvSpPr>
        <p:spPr>
          <a:xfrm>
            <a:off x="1073151" y="2260738"/>
            <a:ext cx="3547533" cy="360031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Modifier les styles du texte du masque</a:t>
            </a:r>
          </a:p>
        </p:txBody>
      </p:sp>
      <p:sp>
        <p:nvSpPr>
          <p:cNvPr id="5" name="Date Placeholder 4"/>
          <p:cNvSpPr>
            <a:spLocks noGrp="1"/>
          </p:cNvSpPr>
          <p:nvPr>
            <p:ph type="dt" sz="half" idx="10"/>
          </p:nvPr>
        </p:nvSpPr>
        <p:spPr/>
        <p:txBody>
          <a:bodyPr/>
          <a:lstStyle/>
          <a:p>
            <a:fld id="{D0DF5E60-9974-AC48-9591-99C2BB44B7CF}" type="datetimeFigureOut">
              <a:rPr lang="en-US" dirty="0"/>
              <a:pPr/>
              <a:t>1/28/2026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14728" y="727522"/>
            <a:ext cx="4852988" cy="1617163"/>
          </a:xfrm>
        </p:spPr>
        <p:txBody>
          <a:bodyPr anchor="b">
            <a:normAutofit/>
          </a:bodyPr>
          <a:lstStyle>
            <a:lvl1pPr algn="l">
              <a:defRPr sz="2400" b="0"/>
            </a:lvl1pPr>
          </a:lstStyle>
          <a:p>
            <a:r>
              <a:rPr lang="fr-FR" smtClean="0"/>
              <a:t>Modifiez le style du titre</a:t>
            </a:r>
            <a:endParaRPr lang="en-US" dirty="0"/>
          </a:p>
        </p:txBody>
      </p:sp>
      <p:sp>
        <p:nvSpPr>
          <p:cNvPr id="9" name="Picture Placeholder 11"/>
          <p:cNvSpPr>
            <a:spLocks noGrp="1" noChangeAspect="1"/>
          </p:cNvSpPr>
          <p:nvPr>
            <p:ph type="pic" sz="quarter" idx="13"/>
          </p:nvPr>
        </p:nvSpPr>
        <p:spPr bwMode="auto">
          <a:xfrm>
            <a:off x="6098117" y="0"/>
            <a:ext cx="6093883" cy="6858000"/>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noFill/>
          <a:ln w="9525">
            <a:solidFill>
              <a:schemeClr val="tx2"/>
            </a:solidFill>
            <a:round/>
            <a:headEnd/>
            <a:tailEnd/>
          </a:ln>
          <a:effectLst/>
        </p:spPr>
        <p:txBody>
          <a:bodyPr wrap="square" numCol="1" anchor="t" anchorCtr="0" compatLnSpc="1">
            <a:prstTxWarp prst="textNoShape">
              <a:avLst/>
            </a:prstTxWarp>
            <a:normAutofit/>
          </a:bodyPr>
          <a:lstStyle>
            <a:lvl1pPr algn="ctr">
              <a:buFontTx/>
              <a:buNone/>
              <a:defRPr sz="1400"/>
            </a:lvl1pPr>
          </a:lstStyle>
          <a:p>
            <a:r>
              <a:rPr lang="fr-FR" smtClean="0"/>
              <a:t>Cliquez sur l'icône pour ajouter une image</a:t>
            </a:r>
            <a:endParaRPr lang="en-US" dirty="0"/>
          </a:p>
        </p:txBody>
      </p:sp>
      <p:sp>
        <p:nvSpPr>
          <p:cNvPr id="4" name="Text Placeholder 3"/>
          <p:cNvSpPr>
            <a:spLocks noGrp="1"/>
          </p:cNvSpPr>
          <p:nvPr>
            <p:ph type="body" sz="half" idx="2"/>
          </p:nvPr>
        </p:nvSpPr>
        <p:spPr>
          <a:xfrm>
            <a:off x="814728" y="2344684"/>
            <a:ext cx="4852988" cy="3516365"/>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Modifier les styles du texte du masque</a:t>
            </a:r>
          </a:p>
        </p:txBody>
      </p:sp>
      <p:sp>
        <p:nvSpPr>
          <p:cNvPr id="5" name="Date Placeholder 4"/>
          <p:cNvSpPr>
            <a:spLocks noGrp="1"/>
          </p:cNvSpPr>
          <p:nvPr>
            <p:ph type="dt" sz="half" idx="10"/>
          </p:nvPr>
        </p:nvSpPr>
        <p:spPr>
          <a:xfrm>
            <a:off x="3885810" y="6041362"/>
            <a:ext cx="976879" cy="365125"/>
          </a:xfrm>
        </p:spPr>
        <p:txBody>
          <a:bodyPr/>
          <a:lstStyle/>
          <a:p>
            <a:fld id="{18C79C5D-2A6F-F04D-97DA-BEF2467B64E4}" type="datetimeFigureOut">
              <a:rPr lang="en-US" dirty="0"/>
              <a:pPr/>
              <a:t>1/28/2026</a:t>
            </a:fld>
            <a:endParaRPr lang="en-US" dirty="0"/>
          </a:p>
        </p:txBody>
      </p:sp>
      <p:sp>
        <p:nvSpPr>
          <p:cNvPr id="6" name="Footer Placeholder 5"/>
          <p:cNvSpPr>
            <a:spLocks noGrp="1"/>
          </p:cNvSpPr>
          <p:nvPr>
            <p:ph type="ftr" sz="quarter" idx="11"/>
          </p:nvPr>
        </p:nvSpPr>
        <p:spPr>
          <a:xfrm>
            <a:off x="590396" y="6041362"/>
            <a:ext cx="3295413" cy="365125"/>
          </a:xfrm>
        </p:spPr>
        <p:txBody>
          <a:bodyPr/>
          <a:lstStyle/>
          <a:p>
            <a:endParaRPr lang="en-US" dirty="0"/>
          </a:p>
        </p:txBody>
      </p:sp>
      <p:sp>
        <p:nvSpPr>
          <p:cNvPr id="7" name="Slide Number Placeholder 6"/>
          <p:cNvSpPr>
            <a:spLocks noGrp="1"/>
          </p:cNvSpPr>
          <p:nvPr>
            <p:ph type="sldNum" sz="quarter" idx="12"/>
          </p:nvPr>
        </p:nvSpPr>
        <p:spPr>
          <a:xfrm>
            <a:off x="4862689" y="5915888"/>
            <a:ext cx="1062155" cy="490599"/>
          </a:xfrm>
        </p:spPr>
        <p:txBody>
          <a:bodyPr/>
          <a:lstStyle/>
          <a:p>
            <a:fld id="{D57F1E4F-1CFF-5643-939E-217C01CDF565}" type="slidenum">
              <a:rPr lang="en-US" dirty="0"/>
              <a:pPr/>
              <a:t>‹N°›</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 panoramiqu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10000" y="4800600"/>
            <a:ext cx="10561418" cy="566738"/>
          </a:xfrm>
        </p:spPr>
        <p:txBody>
          <a:bodyPr anchor="b">
            <a:normAutofit/>
          </a:bodyPr>
          <a:lstStyle>
            <a:lvl1pPr algn="l">
              <a:defRPr sz="2400" b="0"/>
            </a:lvl1pPr>
          </a:lstStyle>
          <a:p>
            <a:r>
              <a:rPr lang="fr-FR" smtClean="0"/>
              <a:t>Modifiez le style du titre</a:t>
            </a:r>
            <a:endParaRPr lang="en-US" dirty="0"/>
          </a:p>
        </p:txBody>
      </p:sp>
      <p:sp>
        <p:nvSpPr>
          <p:cNvPr id="15" name="Picture Placeholder 14"/>
          <p:cNvSpPr>
            <a:spLocks noGrp="1" noChangeAspect="1"/>
          </p:cNvSpPr>
          <p:nvPr>
            <p:ph type="pic" sz="quarter" idx="13"/>
          </p:nvPr>
        </p:nvSpPr>
        <p:spPr bwMode="auto">
          <a:xfrm>
            <a:off x="0" y="0"/>
            <a:ext cx="12192000" cy="4800600"/>
          </a:xfrm>
          <a:custGeom>
            <a:avLst/>
            <a:gdLst/>
            <a:ahLst/>
            <a:cxnLst/>
            <a:rect l="0" t="0" r="r" b="b"/>
            <a:pathLst>
              <a:path w="5760" h="3289">
                <a:moveTo>
                  <a:pt x="5760" y="0"/>
                </a:moveTo>
                <a:lnTo>
                  <a:pt x="0" y="0"/>
                </a:lnTo>
                <a:lnTo>
                  <a:pt x="0" y="3100"/>
                </a:lnTo>
                <a:lnTo>
                  <a:pt x="943" y="3100"/>
                </a:lnTo>
                <a:lnTo>
                  <a:pt x="1123" y="3281"/>
                </a:lnTo>
                <a:lnTo>
                  <a:pt x="1123" y="3281"/>
                </a:lnTo>
                <a:lnTo>
                  <a:pt x="1127" y="3283"/>
                </a:lnTo>
                <a:lnTo>
                  <a:pt x="1133" y="3286"/>
                </a:lnTo>
                <a:lnTo>
                  <a:pt x="1139" y="3289"/>
                </a:lnTo>
                <a:lnTo>
                  <a:pt x="1144" y="3289"/>
                </a:lnTo>
                <a:lnTo>
                  <a:pt x="1150" y="3289"/>
                </a:lnTo>
                <a:lnTo>
                  <a:pt x="1155" y="3286"/>
                </a:lnTo>
                <a:lnTo>
                  <a:pt x="1161" y="3283"/>
                </a:lnTo>
                <a:lnTo>
                  <a:pt x="1165" y="3281"/>
                </a:lnTo>
                <a:lnTo>
                  <a:pt x="1345" y="3100"/>
                </a:lnTo>
                <a:lnTo>
                  <a:pt x="5760" y="3100"/>
                </a:lnTo>
                <a:lnTo>
                  <a:pt x="5760" y="0"/>
                </a:lnTo>
                <a:close/>
              </a:path>
            </a:pathLst>
          </a:custGeom>
          <a:noFill/>
          <a:ln>
            <a:solidFill>
              <a:schemeClr val="tx2"/>
            </a:solidFill>
          </a:ln>
        </p:spPr>
        <p:style>
          <a:lnRef idx="1">
            <a:schemeClr val="accent1"/>
          </a:lnRef>
          <a:fillRef idx="3">
            <a:schemeClr val="accent1"/>
          </a:fillRef>
          <a:effectRef idx="2">
            <a:schemeClr val="accent1"/>
          </a:effectRef>
          <a:fontRef idx="minor">
            <a:schemeClr val="lt1"/>
          </a:fontRef>
        </p:style>
        <p:txBody>
          <a:bodyPr wrap="square" numCol="1" anchor="t" anchorCtr="0" compatLnSpc="1">
            <a:prstTxWarp prst="textNoShape">
              <a:avLst/>
            </a:prstTxWarp>
            <a:normAutofit/>
          </a:bodyPr>
          <a:lstStyle>
            <a:lvl1pPr marL="0" indent="0" algn="ctr">
              <a:buFontTx/>
              <a:buNone/>
              <a:defRPr sz="1600"/>
            </a:lvl1pPr>
          </a:lstStyle>
          <a:p>
            <a:r>
              <a:rPr lang="fr-FR" smtClean="0"/>
              <a:t>Cliquez sur l'icône pour ajouter une image</a:t>
            </a:r>
            <a:endParaRPr lang="en-US" dirty="0"/>
          </a:p>
        </p:txBody>
      </p:sp>
      <p:sp>
        <p:nvSpPr>
          <p:cNvPr id="4" name="Text Placeholder 3"/>
          <p:cNvSpPr>
            <a:spLocks noGrp="1"/>
          </p:cNvSpPr>
          <p:nvPr>
            <p:ph type="body" sz="half" idx="2"/>
          </p:nvPr>
        </p:nvSpPr>
        <p:spPr>
          <a:xfrm>
            <a:off x="810000" y="5367338"/>
            <a:ext cx="10561418"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Modifier les styles du texte du masque</a:t>
            </a:r>
          </a:p>
        </p:txBody>
      </p:sp>
      <p:sp>
        <p:nvSpPr>
          <p:cNvPr id="5" name="Date Placeholder 4"/>
          <p:cNvSpPr>
            <a:spLocks noGrp="1"/>
          </p:cNvSpPr>
          <p:nvPr>
            <p:ph type="dt" sz="half" idx="10"/>
          </p:nvPr>
        </p:nvSpPr>
        <p:spPr/>
        <p:txBody>
          <a:bodyPr/>
          <a:lstStyle/>
          <a:p>
            <a:fld id="{18C79C5D-2A6F-F04D-97DA-BEF2467B64E4}" type="datetimeFigureOut">
              <a:rPr lang="en-US" dirty="0"/>
              <a:pPr/>
              <a:t>1/28/2026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tion avec légende">
    <p:spTree>
      <p:nvGrpSpPr>
        <p:cNvPr id="1" name=""/>
        <p:cNvGrpSpPr/>
        <p:nvPr/>
      </p:nvGrpSpPr>
      <p:grpSpPr>
        <a:xfrm>
          <a:off x="0" y="0"/>
          <a:ext cx="0" cy="0"/>
          <a:chOff x="0" y="0"/>
          <a:chExt cx="0" cy="0"/>
        </a:xfrm>
      </p:grpSpPr>
      <p:sp>
        <p:nvSpPr>
          <p:cNvPr id="8" name="Freeform 6"/>
          <p:cNvSpPr>
            <a:spLocks noChangeAspect="1"/>
          </p:cNvSpPr>
          <p:nvPr/>
        </p:nvSpPr>
        <p:spPr bwMode="auto">
          <a:xfrm>
            <a:off x="631697" y="1081456"/>
            <a:ext cx="6332416" cy="3239188"/>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50985" y="1238502"/>
            <a:ext cx="5893840" cy="2645912"/>
          </a:xfrm>
        </p:spPr>
        <p:txBody>
          <a:bodyPr anchor="b"/>
          <a:lstStyle>
            <a:lvl1pPr algn="l">
              <a:defRPr sz="4200" b="1" cap="none"/>
            </a:lvl1pPr>
          </a:lstStyle>
          <a:p>
            <a:r>
              <a:rPr lang="fr-FR" smtClean="0"/>
              <a:t>Modifiez le style du titre</a:t>
            </a:r>
            <a:endParaRPr lang="en-US" dirty="0"/>
          </a:p>
        </p:txBody>
      </p:sp>
      <p:sp>
        <p:nvSpPr>
          <p:cNvPr id="3" name="Text Placeholder 2"/>
          <p:cNvSpPr>
            <a:spLocks noGrp="1"/>
          </p:cNvSpPr>
          <p:nvPr>
            <p:ph type="body" idx="1"/>
          </p:nvPr>
        </p:nvSpPr>
        <p:spPr>
          <a:xfrm>
            <a:off x="853190" y="4443680"/>
            <a:ext cx="5891636" cy="713241"/>
          </a:xfrm>
        </p:spPr>
        <p:txBody>
          <a:bodyPr anchor="t">
            <a:no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Modifier les styles du texte du masque</a:t>
            </a:r>
          </a:p>
        </p:txBody>
      </p:sp>
      <p:sp>
        <p:nvSpPr>
          <p:cNvPr id="9" name="Text Placeholder 5"/>
          <p:cNvSpPr>
            <a:spLocks noGrp="1"/>
          </p:cNvSpPr>
          <p:nvPr>
            <p:ph type="body" sz="quarter" idx="16"/>
          </p:nvPr>
        </p:nvSpPr>
        <p:spPr>
          <a:xfrm>
            <a:off x="7574642" y="1081456"/>
            <a:ext cx="3810001" cy="4075465"/>
          </a:xfrm>
        </p:spPr>
        <p:txBody>
          <a:bodyPr anchor="t"/>
          <a:lstStyle>
            <a:lvl1pPr marL="0" indent="0">
              <a:buFontTx/>
              <a:buNone/>
              <a:defRPr/>
            </a:lvl1pPr>
          </a:lstStyle>
          <a:p>
            <a:pPr lvl="0"/>
            <a:r>
              <a:rPr lang="fr-FR" smtClean="0"/>
              <a:t>Modifier les styles du texte du masque</a:t>
            </a:r>
          </a:p>
        </p:txBody>
      </p:sp>
      <p:sp>
        <p:nvSpPr>
          <p:cNvPr id="4" name="Date Placeholder 3"/>
          <p:cNvSpPr>
            <a:spLocks noGrp="1"/>
          </p:cNvSpPr>
          <p:nvPr>
            <p:ph type="dt" sz="half" idx="10"/>
          </p:nvPr>
        </p:nvSpPr>
        <p:spPr/>
        <p:txBody>
          <a:bodyPr/>
          <a:lstStyle/>
          <a:p>
            <a:fld id="{8DFA1846-DA80-1C48-A609-854EA85C59AD}" type="datetimeFigureOut">
              <a:rPr lang="en-US" dirty="0"/>
              <a:pPr/>
              <a:t>1/28/2026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arte nom">
    <p:spTree>
      <p:nvGrpSpPr>
        <p:cNvPr id="1" name=""/>
        <p:cNvGrpSpPr/>
        <p:nvPr/>
      </p:nvGrpSpPr>
      <p:grpSpPr>
        <a:xfrm>
          <a:off x="0" y="0"/>
          <a:ext cx="0" cy="0"/>
          <a:chOff x="0" y="0"/>
          <a:chExt cx="0" cy="0"/>
        </a:xfrm>
      </p:grpSpPr>
      <p:sp>
        <p:nvSpPr>
          <p:cNvPr id="9" name="Freeform 6"/>
          <p:cNvSpPr>
            <a:spLocks noChangeAspect="1"/>
          </p:cNvSpPr>
          <p:nvPr/>
        </p:nvSpPr>
        <p:spPr bwMode="auto">
          <a:xfrm>
            <a:off x="1140884" y="2286585"/>
            <a:ext cx="4895115" cy="2503972"/>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38" name="Title 1"/>
          <p:cNvSpPr>
            <a:spLocks noGrp="1"/>
          </p:cNvSpPr>
          <p:nvPr>
            <p:ph type="title"/>
          </p:nvPr>
        </p:nvSpPr>
        <p:spPr>
          <a:xfrm>
            <a:off x="1357089" y="2435957"/>
            <a:ext cx="4382521" cy="2007789"/>
          </a:xfrm>
        </p:spPr>
        <p:txBody>
          <a:bodyPr/>
          <a:lstStyle>
            <a:lvl1pPr>
              <a:defRPr sz="3200"/>
            </a:lvl1pPr>
          </a:lstStyle>
          <a:p>
            <a:r>
              <a:rPr lang="fr-FR" smtClean="0"/>
              <a:t>Modifiez le style du titre</a:t>
            </a:r>
            <a:endParaRPr lang="en-US" dirty="0"/>
          </a:p>
        </p:txBody>
      </p:sp>
      <p:sp>
        <p:nvSpPr>
          <p:cNvPr id="6" name="Text Placeholder 5"/>
          <p:cNvSpPr>
            <a:spLocks noGrp="1"/>
          </p:cNvSpPr>
          <p:nvPr>
            <p:ph type="body" sz="quarter" idx="16"/>
          </p:nvPr>
        </p:nvSpPr>
        <p:spPr>
          <a:xfrm>
            <a:off x="6156000" y="2286000"/>
            <a:ext cx="4880300" cy="2295525"/>
          </a:xfrm>
        </p:spPr>
        <p:txBody>
          <a:bodyPr anchor="t"/>
          <a:lstStyle>
            <a:lvl1pPr marL="0" indent="0">
              <a:buFontTx/>
              <a:buNone/>
              <a:defRPr/>
            </a:lvl1pPr>
          </a:lstStyle>
          <a:p>
            <a:pPr lvl="0"/>
            <a:r>
              <a:rPr lang="fr-FR" smtClean="0"/>
              <a:t>Modifier les styles du texte du masque</a:t>
            </a:r>
          </a:p>
        </p:txBody>
      </p:sp>
      <p:sp>
        <p:nvSpPr>
          <p:cNvPr id="2" name="Date Placeholder 1"/>
          <p:cNvSpPr>
            <a:spLocks noGrp="1"/>
          </p:cNvSpPr>
          <p:nvPr>
            <p:ph type="dt" sz="half" idx="10"/>
          </p:nvPr>
        </p:nvSpPr>
        <p:spPr/>
        <p:txBody>
          <a:bodyPr/>
          <a:lstStyle/>
          <a:p>
            <a:fld id="{FBF54567-0DE4-3F47-BF90-CB84690072F9}" type="datetimeFigureOut">
              <a:rPr lang="en-US" dirty="0"/>
              <a:pPr/>
              <a:t>1/28/2026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7"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fr-FR" smtClean="0"/>
              <a:t>Modifiez le style du titre</a:t>
            </a:r>
            <a:endParaRPr lang="en-US" dirty="0"/>
          </a:p>
        </p:txBody>
      </p:sp>
      <p:sp>
        <p:nvSpPr>
          <p:cNvPr id="3" name="Vertical Text Placeholder 2"/>
          <p:cNvSpPr>
            <a:spLocks noGrp="1"/>
          </p:cNvSpPr>
          <p:nvPr>
            <p:ph type="body" orient="vert" idx="1"/>
          </p:nvPr>
        </p:nvSpPr>
        <p:spPr/>
        <p:txBody>
          <a:bodyPr vert="eaVert" anchor="t"/>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10"/>
          </p:nvPr>
        </p:nvSpPr>
        <p:spPr/>
        <p:txBody>
          <a:bodyPr/>
          <a:lstStyle/>
          <a:p>
            <a:fld id="{C6C52C72-DE31-F449-A4ED-4C594FD91407}" type="datetimeFigureOut">
              <a:rPr lang="en-US" dirty="0"/>
              <a:pPr/>
              <a:t>1/28/2026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12" name="Freeform 6"/>
          <p:cNvSpPr>
            <a:spLocks noChangeAspect="1"/>
          </p:cNvSpPr>
          <p:nvPr/>
        </p:nvSpPr>
        <p:spPr bwMode="auto">
          <a:xfrm>
            <a:off x="7669651" y="446089"/>
            <a:ext cx="4522349" cy="5414962"/>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183540" y="586171"/>
            <a:ext cx="2494791" cy="5134798"/>
          </a:xfrm>
        </p:spPr>
        <p:txBody>
          <a:bodyPr vert="eaVert"/>
          <a:lstStyle/>
          <a:p>
            <a:r>
              <a:rPr lang="fr-FR" smtClean="0"/>
              <a:t>Modifiez le style du titre</a:t>
            </a:r>
            <a:endParaRPr lang="en-US" dirty="0"/>
          </a:p>
        </p:txBody>
      </p:sp>
      <p:sp>
        <p:nvSpPr>
          <p:cNvPr id="3" name="Vertical Text Placeholder 2"/>
          <p:cNvSpPr>
            <a:spLocks noGrp="1"/>
          </p:cNvSpPr>
          <p:nvPr>
            <p:ph type="body" orient="vert" idx="1"/>
          </p:nvPr>
        </p:nvSpPr>
        <p:spPr>
          <a:xfrm>
            <a:off x="810001" y="446089"/>
            <a:ext cx="6611540" cy="5414962"/>
          </a:xfrm>
        </p:spPr>
        <p:txBody>
          <a:bodyPr vert="eaVert" anchor="t"/>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10"/>
          </p:nvPr>
        </p:nvSpPr>
        <p:spPr/>
        <p:txBody>
          <a:bodyPr/>
          <a:lstStyle/>
          <a:p>
            <a:fld id="{ED62726E-379B-B349-9EED-81ED093FA806}" type="datetimeFigureOut">
              <a:rPr lang="en-US" dirty="0"/>
              <a:pPr/>
              <a:t>1/28/2026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0000" y="447188"/>
            <a:ext cx="10571998" cy="970450"/>
          </a:xfrm>
          <a:prstGeom prst="rect">
            <a:avLst/>
          </a:prstGeom>
          <a:effectLst>
            <a:outerShdw blurRad="50800" dir="14400000">
              <a:srgbClr val="000000">
                <a:alpha val="60000"/>
              </a:srgbClr>
            </a:outerShdw>
          </a:effectLst>
        </p:spPr>
        <p:txBody>
          <a:bodyPr vert="horz" lIns="91440" tIns="45720" rIns="91440" bIns="45720" rtlCol="0" anchor="b">
            <a:noAutofit/>
          </a:bodyPr>
          <a:lstStyle/>
          <a:p>
            <a:r>
              <a:rPr lang="fr-FR" smtClean="0"/>
              <a:t>Modifiez le style du titre</a:t>
            </a:r>
            <a:endParaRPr lang="en-US" dirty="0"/>
          </a:p>
        </p:txBody>
      </p:sp>
      <p:sp>
        <p:nvSpPr>
          <p:cNvPr id="3" name="Text Placeholder 2"/>
          <p:cNvSpPr>
            <a:spLocks noGrp="1"/>
          </p:cNvSpPr>
          <p:nvPr>
            <p:ph type="body" idx="1"/>
          </p:nvPr>
        </p:nvSpPr>
        <p:spPr>
          <a:xfrm>
            <a:off x="810000" y="2184401"/>
            <a:ext cx="10563285" cy="3674397"/>
          </a:xfrm>
          <a:prstGeom prst="rect">
            <a:avLst/>
          </a:prstGeom>
          <a:effectLst>
            <a:outerShdw blurRad="50800" dir="14400000">
              <a:srgbClr val="000000">
                <a:alpha val="40000"/>
              </a:srgbClr>
            </a:outerShdw>
          </a:effectLst>
        </p:spPr>
        <p:txBody>
          <a:bodyPr vert="horz" lIns="91440" tIns="45720" rIns="91440" bIns="45720" rtlCol="0" anchor="ctr">
            <a:normAutofit/>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5" name="Footer Placeholder 4"/>
          <p:cNvSpPr>
            <a:spLocks noGrp="1"/>
          </p:cNvSpPr>
          <p:nvPr>
            <p:ph type="ftr" sz="quarter" idx="3"/>
          </p:nvPr>
        </p:nvSpPr>
        <p:spPr>
          <a:xfrm>
            <a:off x="451514" y="6041362"/>
            <a:ext cx="8644320" cy="365125"/>
          </a:xfrm>
          <a:prstGeom prst="rect">
            <a:avLst/>
          </a:prstGeom>
        </p:spPr>
        <p:txBody>
          <a:bodyPr vert="horz" lIns="91440" tIns="45720" rIns="91440" bIns="45720" rtlCol="0" anchor="b"/>
          <a:lstStyle>
            <a:lvl1pPr algn="l">
              <a:defRPr sz="900">
                <a:solidFill>
                  <a:schemeClr val="tx1"/>
                </a:solidFill>
              </a:defRPr>
            </a:lvl1pPr>
          </a:lstStyle>
          <a:p>
            <a:endParaRPr lang="en-US" dirty="0"/>
          </a:p>
        </p:txBody>
      </p:sp>
      <p:sp>
        <p:nvSpPr>
          <p:cNvPr id="4" name="Date Placeholder 3"/>
          <p:cNvSpPr>
            <a:spLocks noGrp="1"/>
          </p:cNvSpPr>
          <p:nvPr>
            <p:ph type="dt" sz="half" idx="2"/>
          </p:nvPr>
        </p:nvSpPr>
        <p:spPr>
          <a:xfrm>
            <a:off x="9334626" y="6041362"/>
            <a:ext cx="1343706" cy="365125"/>
          </a:xfrm>
          <a:prstGeom prst="rect">
            <a:avLst/>
          </a:prstGeom>
        </p:spPr>
        <p:txBody>
          <a:bodyPr vert="horz" lIns="91440" tIns="45720" rIns="91440" bIns="45720" rtlCol="0" anchor="b"/>
          <a:lstStyle>
            <a:lvl1pPr algn="r">
              <a:defRPr sz="900">
                <a:solidFill>
                  <a:schemeClr val="tx1"/>
                </a:solidFill>
              </a:defRPr>
            </a:lvl1pPr>
          </a:lstStyle>
          <a:p>
            <a:fld id="{09B482E8-6E0E-1B4F-B1FD-C69DB9E858D9}" type="datetimeFigureOut">
              <a:rPr lang="en-US" dirty="0"/>
              <a:pPr/>
              <a:t>1/28/2026</a:t>
            </a:fld>
            <a:endParaRPr lang="en-US" dirty="0"/>
          </a:p>
        </p:txBody>
      </p:sp>
      <p:sp>
        <p:nvSpPr>
          <p:cNvPr id="6" name="Slide Number Placeholder 5"/>
          <p:cNvSpPr>
            <a:spLocks noGrp="1"/>
          </p:cNvSpPr>
          <p:nvPr>
            <p:ph type="sldNum" sz="quarter" idx="4"/>
          </p:nvPr>
        </p:nvSpPr>
        <p:spPr>
          <a:xfrm>
            <a:off x="10678331" y="5915888"/>
            <a:ext cx="1062155" cy="490599"/>
          </a:xfrm>
          <a:prstGeom prst="rect">
            <a:avLst/>
          </a:prstGeom>
        </p:spPr>
        <p:txBody>
          <a:bodyPr vert="horz" lIns="91440" tIns="45720" rIns="91440" bIns="10800" rtlCol="0" anchor="b"/>
          <a:lstStyle>
            <a:lvl1pPr algn="r">
              <a:defRPr sz="2000">
                <a:solidFill>
                  <a:schemeClr val="accent1"/>
                </a:solidFill>
              </a:defRPr>
            </a:lvl1pPr>
          </a:lstStyle>
          <a:p>
            <a:fld id="{D57F1E4F-1CFF-5643-939E-217C01CDF565}" type="slidenum">
              <a:rPr lang="en-US" dirty="0"/>
              <a:pPr/>
              <a:t>‹N°›</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3" r:id="rId9"/>
    <p:sldLayoutId id="2147483657" r:id="rId10"/>
    <p:sldLayoutId id="2147483666" r:id="rId11"/>
    <p:sldLayoutId id="2147483661" r:id="rId12"/>
    <p:sldLayoutId id="2147483658" r:id="rId13"/>
    <p:sldLayoutId id="2147483659" r:id="rId14"/>
  </p:sldLayoutIdLst>
  <p:hf sldNum="0" hdr="0" ftr="0" dt="0"/>
  <p:txStyles>
    <p:titleStyle>
      <a:lvl1pPr algn="l" defTabSz="457200" rtl="0" eaLnBrk="1" latinLnBrk="0" hangingPunct="1">
        <a:spcBef>
          <a:spcPct val="0"/>
        </a:spcBef>
        <a:buNone/>
        <a:defRPr sz="4000" b="1" kern="1200">
          <a:solidFill>
            <a:srgbClr val="FEFEFE"/>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mailto:Rafaele.bondaz@univ-lyon1,fr"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810001" y="1449147"/>
            <a:ext cx="10572000" cy="1358221"/>
          </a:xfrm>
        </p:spPr>
        <p:txBody>
          <a:bodyPr/>
          <a:lstStyle/>
          <a:p>
            <a:r>
              <a:rPr lang="fr-FR" dirty="0" smtClean="0"/>
              <a:t>Outils et plateformes</a:t>
            </a:r>
            <a:endParaRPr lang="fr-FR" dirty="0"/>
          </a:p>
        </p:txBody>
      </p:sp>
      <p:sp>
        <p:nvSpPr>
          <p:cNvPr id="3" name="Sous-titre 2"/>
          <p:cNvSpPr>
            <a:spLocks noGrp="1"/>
          </p:cNvSpPr>
          <p:nvPr>
            <p:ph type="subTitle" idx="1"/>
          </p:nvPr>
        </p:nvSpPr>
        <p:spPr/>
        <p:txBody>
          <a:bodyPr/>
          <a:lstStyle/>
          <a:p>
            <a:r>
              <a:rPr lang="fr-FR" dirty="0" smtClean="0"/>
              <a:t>IUT Informatique année scolaire 2024/2025</a:t>
            </a:r>
            <a:endParaRPr lang="fr-FR" dirty="0"/>
          </a:p>
        </p:txBody>
      </p:sp>
    </p:spTree>
    <p:extLst>
      <p:ext uri="{BB962C8B-B14F-4D97-AF65-F5344CB8AC3E}">
        <p14:creationId xmlns:p14="http://schemas.microsoft.com/office/powerpoint/2010/main" val="7916614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Présentation</a:t>
            </a:r>
            <a:endParaRPr lang="fr-FR" dirty="0"/>
          </a:p>
        </p:txBody>
      </p:sp>
      <p:sp>
        <p:nvSpPr>
          <p:cNvPr id="3" name="Espace réservé du contenu 2"/>
          <p:cNvSpPr>
            <a:spLocks noGrp="1"/>
          </p:cNvSpPr>
          <p:nvPr>
            <p:ph idx="1"/>
          </p:nvPr>
        </p:nvSpPr>
        <p:spPr/>
        <p:txBody>
          <a:bodyPr anchor="t">
            <a:normAutofit lnSpcReduction="10000"/>
          </a:bodyPr>
          <a:lstStyle/>
          <a:p>
            <a:pPr marL="0" indent="0">
              <a:buNone/>
            </a:pPr>
            <a:r>
              <a:rPr lang="fr-FR" dirty="0"/>
              <a:t/>
            </a:r>
            <a:br>
              <a:rPr lang="fr-FR" dirty="0"/>
            </a:br>
            <a:r>
              <a:rPr lang="fr-FR" sz="2800" b="1" dirty="0" smtClean="0"/>
              <a:t>Présentez-vous : </a:t>
            </a:r>
          </a:p>
          <a:p>
            <a:r>
              <a:rPr lang="fr-FR" sz="2800" dirty="0" smtClean="0"/>
              <a:t>Prénom/Nom </a:t>
            </a:r>
          </a:p>
          <a:p>
            <a:r>
              <a:rPr lang="fr-FR" sz="2800" dirty="0" smtClean="0"/>
              <a:t>Quel était votre situation l’année dernière ? </a:t>
            </a:r>
          </a:p>
          <a:p>
            <a:r>
              <a:rPr lang="fr-FR" sz="2800" dirty="0" smtClean="0"/>
              <a:t>Dans quelle entreprise faites-vous votre alternance ? Sur quelles missions ?</a:t>
            </a:r>
            <a:endParaRPr lang="fr-FR" sz="2800" dirty="0"/>
          </a:p>
          <a:p>
            <a:r>
              <a:rPr lang="fr-FR" sz="2800" dirty="0" smtClean="0"/>
              <a:t>Qu’attendez-vous de ce cours ?</a:t>
            </a:r>
            <a:endParaRPr lang="fr-FR" sz="2800" dirty="0"/>
          </a:p>
          <a:p>
            <a:endParaRPr lang="fr-FR" dirty="0"/>
          </a:p>
        </p:txBody>
      </p:sp>
    </p:spTree>
    <p:extLst>
      <p:ext uri="{BB962C8B-B14F-4D97-AF65-F5344CB8AC3E}">
        <p14:creationId xmlns:p14="http://schemas.microsoft.com/office/powerpoint/2010/main" val="2890082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Présentation</a:t>
            </a:r>
            <a:endParaRPr lang="fr-FR" dirty="0"/>
          </a:p>
        </p:txBody>
      </p:sp>
      <p:sp>
        <p:nvSpPr>
          <p:cNvPr id="3" name="Espace réservé du contenu 2"/>
          <p:cNvSpPr>
            <a:spLocks noGrp="1"/>
          </p:cNvSpPr>
          <p:nvPr>
            <p:ph idx="1"/>
          </p:nvPr>
        </p:nvSpPr>
        <p:spPr/>
        <p:txBody>
          <a:bodyPr>
            <a:normAutofit/>
          </a:bodyPr>
          <a:lstStyle/>
          <a:p>
            <a:pPr marL="0" indent="0">
              <a:buNone/>
            </a:pPr>
            <a:r>
              <a:rPr lang="fr-FR" sz="2400" b="1" dirty="0" err="1" smtClean="0"/>
              <a:t>Rafaèle</a:t>
            </a:r>
            <a:r>
              <a:rPr lang="fr-FR" sz="2400" b="1" dirty="0" smtClean="0"/>
              <a:t> BONDAZ</a:t>
            </a:r>
          </a:p>
          <a:p>
            <a:pPr marL="0" indent="0">
              <a:buNone/>
            </a:pPr>
            <a:r>
              <a:rPr lang="fr-FR" sz="2400" b="1" dirty="0" smtClean="0">
                <a:hlinkClick r:id="rId3"/>
              </a:rPr>
              <a:t>Rafaele.bondaz@univ-lyon1,fr</a:t>
            </a:r>
            <a:endParaRPr lang="fr-FR" sz="2400" b="1" dirty="0" smtClean="0"/>
          </a:p>
          <a:p>
            <a:pPr marL="0" indent="0">
              <a:buNone/>
            </a:pPr>
            <a:endParaRPr lang="fr-FR" sz="2400" b="1" dirty="0"/>
          </a:p>
          <a:p>
            <a:pPr marL="0" indent="0">
              <a:buNone/>
            </a:pPr>
            <a:r>
              <a:rPr lang="fr-FR" sz="2400" b="1" dirty="0" smtClean="0"/>
              <a:t>Ingénieure BI et systèmes d’informations</a:t>
            </a:r>
          </a:p>
          <a:p>
            <a:pPr marL="0" indent="0">
              <a:buNone/>
            </a:pPr>
            <a:r>
              <a:rPr lang="fr-FR" sz="2400" b="1" dirty="0" smtClean="0"/>
              <a:t>Rectorat de Lyon </a:t>
            </a:r>
            <a:r>
              <a:rPr lang="fr-FR" dirty="0"/>
              <a:t/>
            </a:r>
            <a:br>
              <a:rPr lang="fr-FR" dirty="0"/>
            </a:br>
            <a:r>
              <a:rPr lang="fr-FR" dirty="0"/>
              <a:t/>
            </a:r>
            <a:br>
              <a:rPr lang="fr-FR" dirty="0"/>
            </a:br>
            <a:endParaRPr lang="fr-FR" dirty="0"/>
          </a:p>
          <a:p>
            <a:endParaRPr lang="fr-FR" dirty="0"/>
          </a:p>
        </p:txBody>
      </p:sp>
    </p:spTree>
    <p:extLst>
      <p:ext uri="{BB962C8B-B14F-4D97-AF65-F5344CB8AC3E}">
        <p14:creationId xmlns:p14="http://schemas.microsoft.com/office/powerpoint/2010/main" val="12300575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Objectifs du cours</a:t>
            </a:r>
            <a:endParaRPr lang="fr-FR" dirty="0"/>
          </a:p>
        </p:txBody>
      </p:sp>
      <p:sp>
        <p:nvSpPr>
          <p:cNvPr id="3" name="Espace réservé du contenu 2"/>
          <p:cNvSpPr>
            <a:spLocks noGrp="1"/>
          </p:cNvSpPr>
          <p:nvPr>
            <p:ph idx="1"/>
          </p:nvPr>
        </p:nvSpPr>
        <p:spPr/>
        <p:txBody>
          <a:bodyPr>
            <a:normAutofit/>
          </a:bodyPr>
          <a:lstStyle/>
          <a:p>
            <a:r>
              <a:rPr lang="fr-FR" sz="2400" dirty="0" smtClean="0"/>
              <a:t>Le cours se veut être une application de ce que vous avez appris tout au long de l’année</a:t>
            </a:r>
          </a:p>
          <a:p>
            <a:r>
              <a:rPr lang="fr-FR" sz="2400" dirty="0" smtClean="0"/>
              <a:t>Vous réaliserez le projet à partir du sujet fourni </a:t>
            </a:r>
          </a:p>
          <a:p>
            <a:r>
              <a:rPr lang="fr-FR" sz="2400" dirty="0" smtClean="0"/>
              <a:t>Vous serez en quasi autonomie guidés </a:t>
            </a:r>
            <a:r>
              <a:rPr lang="fr-FR" sz="2400" dirty="0"/>
              <a:t>par le chef de </a:t>
            </a:r>
            <a:r>
              <a:rPr lang="fr-FR" sz="2400" dirty="0" smtClean="0"/>
              <a:t>projet</a:t>
            </a:r>
            <a:r>
              <a:rPr lang="fr-FR" sz="2400" dirty="0"/>
              <a:t> </a:t>
            </a:r>
            <a:r>
              <a:rPr lang="fr-FR" sz="2400" dirty="0" smtClean="0"/>
              <a:t>(moi)</a:t>
            </a:r>
            <a:endParaRPr lang="fr-FR" sz="2400" dirty="0"/>
          </a:p>
          <a:p>
            <a:r>
              <a:rPr lang="fr-FR" sz="2400" dirty="0" smtClean="0"/>
              <a:t>Pour les questions techniques liés aux outils utilisés, vous vous référez à l’enseignant concerné.</a:t>
            </a:r>
            <a:r>
              <a:rPr lang="fr-FR" dirty="0"/>
              <a:t/>
            </a:r>
            <a:br>
              <a:rPr lang="fr-FR" dirty="0"/>
            </a:br>
            <a:endParaRPr lang="fr-FR" dirty="0"/>
          </a:p>
          <a:p>
            <a:endParaRPr lang="fr-FR" dirty="0"/>
          </a:p>
        </p:txBody>
      </p:sp>
    </p:spTree>
    <p:extLst>
      <p:ext uri="{BB962C8B-B14F-4D97-AF65-F5344CB8AC3E}">
        <p14:creationId xmlns:p14="http://schemas.microsoft.com/office/powerpoint/2010/main" val="39652872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Déroulement et méthodologie du cours</a:t>
            </a:r>
            <a:endParaRPr lang="fr-FR" dirty="0"/>
          </a:p>
        </p:txBody>
      </p:sp>
      <p:sp>
        <p:nvSpPr>
          <p:cNvPr id="3" name="Espace réservé du contenu 2"/>
          <p:cNvSpPr>
            <a:spLocks noGrp="1"/>
          </p:cNvSpPr>
          <p:nvPr>
            <p:ph idx="1"/>
          </p:nvPr>
        </p:nvSpPr>
        <p:spPr/>
        <p:txBody>
          <a:bodyPr>
            <a:normAutofit/>
          </a:bodyPr>
          <a:lstStyle/>
          <a:p>
            <a:pPr marL="0" indent="0">
              <a:buNone/>
            </a:pPr>
            <a:r>
              <a:rPr lang="fr-FR" dirty="0"/>
              <a:t/>
            </a:r>
            <a:br>
              <a:rPr lang="fr-FR" dirty="0"/>
            </a:br>
            <a:r>
              <a:rPr lang="fr-FR" dirty="0"/>
              <a:t/>
            </a:r>
            <a:br>
              <a:rPr lang="fr-FR" dirty="0"/>
            </a:br>
            <a:endParaRPr lang="fr-FR" dirty="0"/>
          </a:p>
          <a:p>
            <a:endParaRPr lang="fr-FR" dirty="0"/>
          </a:p>
        </p:txBody>
      </p:sp>
      <p:graphicFrame>
        <p:nvGraphicFramePr>
          <p:cNvPr id="4" name="Tableau 3"/>
          <p:cNvGraphicFramePr>
            <a:graphicFrameLocks noGrp="1"/>
          </p:cNvGraphicFramePr>
          <p:nvPr>
            <p:extLst>
              <p:ext uri="{D42A27DB-BD31-4B8C-83A1-F6EECF244321}">
                <p14:modId xmlns:p14="http://schemas.microsoft.com/office/powerpoint/2010/main" val="2947360778"/>
              </p:ext>
            </p:extLst>
          </p:nvPr>
        </p:nvGraphicFramePr>
        <p:xfrm>
          <a:off x="441156" y="2101422"/>
          <a:ext cx="11111936" cy="3872145"/>
        </p:xfrm>
        <a:graphic>
          <a:graphicData uri="http://schemas.openxmlformats.org/drawingml/2006/table">
            <a:tbl>
              <a:tblPr firstRow="1" bandRow="1">
                <a:tableStyleId>{5C22544A-7EE6-4342-B048-85BDC9FD1C3A}</a:tableStyleId>
              </a:tblPr>
              <a:tblGrid>
                <a:gridCol w="2228004">
                  <a:extLst>
                    <a:ext uri="{9D8B030D-6E8A-4147-A177-3AD203B41FA5}">
                      <a16:colId xmlns:a16="http://schemas.microsoft.com/office/drawing/2014/main" val="1350010853"/>
                    </a:ext>
                  </a:extLst>
                </a:gridCol>
                <a:gridCol w="1351943">
                  <a:extLst>
                    <a:ext uri="{9D8B030D-6E8A-4147-A177-3AD203B41FA5}">
                      <a16:colId xmlns:a16="http://schemas.microsoft.com/office/drawing/2014/main" val="2974645842"/>
                    </a:ext>
                  </a:extLst>
                </a:gridCol>
                <a:gridCol w="7531989">
                  <a:extLst>
                    <a:ext uri="{9D8B030D-6E8A-4147-A177-3AD203B41FA5}">
                      <a16:colId xmlns:a16="http://schemas.microsoft.com/office/drawing/2014/main" val="2864021844"/>
                    </a:ext>
                  </a:extLst>
                </a:gridCol>
              </a:tblGrid>
              <a:tr h="432986">
                <a:tc>
                  <a:txBody>
                    <a:bodyPr/>
                    <a:lstStyle/>
                    <a:p>
                      <a:r>
                        <a:rPr lang="fr-FR" dirty="0" smtClean="0"/>
                        <a:t>Dates</a:t>
                      </a:r>
                      <a:endParaRPr lang="fr-FR" dirty="0"/>
                    </a:p>
                  </a:txBody>
                  <a:tcPr/>
                </a:tc>
                <a:tc>
                  <a:txBody>
                    <a:bodyPr/>
                    <a:lstStyle/>
                    <a:p>
                      <a:r>
                        <a:rPr lang="fr-FR" dirty="0" smtClean="0"/>
                        <a:t>durée</a:t>
                      </a:r>
                      <a:endParaRPr lang="fr-FR" dirty="0"/>
                    </a:p>
                  </a:txBody>
                  <a:tcPr/>
                </a:tc>
                <a:tc>
                  <a:txBody>
                    <a:bodyPr/>
                    <a:lstStyle/>
                    <a:p>
                      <a:endParaRPr lang="fr-FR" dirty="0"/>
                    </a:p>
                  </a:txBody>
                  <a:tcPr/>
                </a:tc>
                <a:extLst>
                  <a:ext uri="{0D108BD9-81ED-4DB2-BD59-A6C34878D82A}">
                    <a16:rowId xmlns:a16="http://schemas.microsoft.com/office/drawing/2014/main" val="3881242329"/>
                  </a:ext>
                </a:extLst>
              </a:tr>
              <a:tr h="605492">
                <a:tc>
                  <a:txBody>
                    <a:bodyPr/>
                    <a:lstStyle/>
                    <a:p>
                      <a:r>
                        <a:rPr lang="fr-FR" dirty="0" smtClean="0"/>
                        <a:t>Mercredi 28</a:t>
                      </a:r>
                      <a:r>
                        <a:rPr lang="fr-FR" baseline="0" dirty="0" smtClean="0"/>
                        <a:t> janvier</a:t>
                      </a:r>
                      <a:endParaRPr lang="fr-FR" dirty="0" smtClean="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fr-FR" dirty="0" smtClean="0"/>
                        <a:t>4h</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fr-FR" sz="1800" kern="1200" dirty="0" smtClean="0">
                          <a:solidFill>
                            <a:schemeClr val="dk1"/>
                          </a:solidFill>
                          <a:effectLst/>
                          <a:latin typeface="+mn-lt"/>
                          <a:ea typeface="+mn-ea"/>
                          <a:cs typeface="+mn-cs"/>
                        </a:rPr>
                        <a:t>Gestion de projet + Rédaction des spécifications fonctionnelles</a:t>
                      </a:r>
                      <a:endParaRPr lang="fr-FR" dirty="0" smtClean="0"/>
                    </a:p>
                  </a:txBody>
                  <a:tcPr/>
                </a:tc>
                <a:extLst>
                  <a:ext uri="{0D108BD9-81ED-4DB2-BD59-A6C34878D82A}">
                    <a16:rowId xmlns:a16="http://schemas.microsoft.com/office/drawing/2014/main" val="4206688101"/>
                  </a:ext>
                </a:extLst>
              </a:tr>
              <a:tr h="427055">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fr-FR" dirty="0" smtClean="0"/>
                        <a:t>Mercredi 4</a:t>
                      </a:r>
                      <a:r>
                        <a:rPr lang="fr-FR" baseline="0" dirty="0" smtClean="0"/>
                        <a:t> mars</a:t>
                      </a:r>
                      <a:endParaRPr lang="fr-FR"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fr-FR" dirty="0" smtClean="0"/>
                        <a:t>8h</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fr-FR" sz="1800" kern="1200" dirty="0" smtClean="0">
                          <a:solidFill>
                            <a:schemeClr val="dk1"/>
                          </a:solidFill>
                          <a:effectLst/>
                          <a:latin typeface="+mn-lt"/>
                          <a:ea typeface="+mn-ea"/>
                          <a:cs typeface="+mn-cs"/>
                        </a:rPr>
                        <a:t>Rédaction des spécifications techniques (Modélisation en flocon…) </a:t>
                      </a:r>
                      <a:endParaRPr lang="fr-FR" dirty="0" smtClean="0"/>
                    </a:p>
                  </a:txBody>
                  <a:tcPr/>
                </a:tc>
                <a:extLst>
                  <a:ext uri="{0D108BD9-81ED-4DB2-BD59-A6C34878D82A}">
                    <a16:rowId xmlns:a16="http://schemas.microsoft.com/office/drawing/2014/main" val="917979737"/>
                  </a:ext>
                </a:extLst>
              </a:tr>
              <a:tr h="427055">
                <a:tc>
                  <a:txBody>
                    <a:bodyPr/>
                    <a:lstStyle/>
                    <a:p>
                      <a:r>
                        <a:rPr lang="fr-FR" dirty="0" smtClean="0"/>
                        <a:t>Mercredi 18 mars</a:t>
                      </a:r>
                      <a:endParaRPr lang="fr-FR" dirty="0"/>
                    </a:p>
                  </a:txBody>
                  <a:tcPr/>
                </a:tc>
                <a:tc>
                  <a:txBody>
                    <a:bodyPr/>
                    <a:lstStyle/>
                    <a:p>
                      <a:r>
                        <a:rPr lang="fr-FR" dirty="0" smtClean="0"/>
                        <a:t>8h</a:t>
                      </a:r>
                      <a:endParaRPr lang="fr-FR" dirty="0"/>
                    </a:p>
                  </a:txBody>
                  <a:tcPr/>
                </a:tc>
                <a:tc>
                  <a:txBody>
                    <a:bodyPr/>
                    <a:lstStyle/>
                    <a:p>
                      <a:r>
                        <a:rPr lang="fr-FR" dirty="0" err="1" smtClean="0"/>
                        <a:t>Extract</a:t>
                      </a:r>
                      <a:r>
                        <a:rPr lang="fr-FR" baseline="0" dirty="0" smtClean="0"/>
                        <a:t> </a:t>
                      </a:r>
                      <a:r>
                        <a:rPr lang="fr-FR" baseline="0" dirty="0" err="1" smtClean="0"/>
                        <a:t>Transform</a:t>
                      </a:r>
                      <a:r>
                        <a:rPr lang="fr-FR" baseline="0" dirty="0" smtClean="0"/>
                        <a:t> </a:t>
                      </a:r>
                      <a:r>
                        <a:rPr lang="fr-FR" dirty="0" err="1" smtClean="0"/>
                        <a:t>Load</a:t>
                      </a:r>
                      <a:endParaRPr lang="fr-FR" dirty="0"/>
                    </a:p>
                  </a:txBody>
                  <a:tcPr/>
                </a:tc>
                <a:extLst>
                  <a:ext uri="{0D108BD9-81ED-4DB2-BD59-A6C34878D82A}">
                    <a16:rowId xmlns:a16="http://schemas.microsoft.com/office/drawing/2014/main" val="4279425889"/>
                  </a:ext>
                </a:extLst>
              </a:tr>
              <a:tr h="432986">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fr-FR" dirty="0" smtClean="0"/>
                        <a:t>Jeudi 2 avril</a:t>
                      </a:r>
                    </a:p>
                  </a:txBody>
                  <a:tcPr/>
                </a:tc>
                <a:tc>
                  <a:txBody>
                    <a:bodyPr/>
                    <a:lstStyle/>
                    <a:p>
                      <a:r>
                        <a:rPr lang="fr-FR" dirty="0" smtClean="0"/>
                        <a:t>4h</a:t>
                      </a:r>
                      <a:endParaRPr lang="fr-FR"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fr-FR" dirty="0" err="1" smtClean="0"/>
                        <a:t>Extract</a:t>
                      </a:r>
                      <a:r>
                        <a:rPr lang="fr-FR" baseline="0" dirty="0" smtClean="0"/>
                        <a:t> </a:t>
                      </a:r>
                      <a:r>
                        <a:rPr lang="fr-FR" baseline="0" dirty="0" err="1" smtClean="0"/>
                        <a:t>Transform</a:t>
                      </a:r>
                      <a:r>
                        <a:rPr lang="fr-FR" baseline="0" dirty="0" smtClean="0"/>
                        <a:t> </a:t>
                      </a:r>
                      <a:r>
                        <a:rPr lang="fr-FR" dirty="0" err="1" smtClean="0"/>
                        <a:t>Load</a:t>
                      </a:r>
                      <a:r>
                        <a:rPr lang="fr-FR" baseline="0" dirty="0" smtClean="0"/>
                        <a:t> + </a:t>
                      </a:r>
                      <a:r>
                        <a:rPr lang="fr-FR" dirty="0" smtClean="0"/>
                        <a:t>Conception du </a:t>
                      </a:r>
                      <a:r>
                        <a:rPr lang="fr-FR" dirty="0" err="1" smtClean="0"/>
                        <a:t>Reporting</a:t>
                      </a:r>
                      <a:endParaRPr lang="fr-FR" dirty="0"/>
                    </a:p>
                  </a:txBody>
                  <a:tcPr/>
                </a:tc>
                <a:extLst>
                  <a:ext uri="{0D108BD9-81ED-4DB2-BD59-A6C34878D82A}">
                    <a16:rowId xmlns:a16="http://schemas.microsoft.com/office/drawing/2014/main" val="3886751811"/>
                  </a:ext>
                </a:extLst>
              </a:tr>
              <a:tr h="432986">
                <a:tc>
                  <a:txBody>
                    <a:bodyPr/>
                    <a:lstStyle/>
                    <a:p>
                      <a:r>
                        <a:rPr lang="fr-FR" dirty="0" smtClean="0"/>
                        <a:t>Mercredi 29 avril</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fr-FR" dirty="0" smtClean="0"/>
                        <a:t>8h</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fr-FR" dirty="0" smtClean="0"/>
                        <a:t>Conception du </a:t>
                      </a:r>
                      <a:r>
                        <a:rPr lang="fr-FR" dirty="0" err="1" smtClean="0"/>
                        <a:t>Reporting</a:t>
                      </a:r>
                      <a:endParaRPr lang="fr-FR" dirty="0" smtClean="0"/>
                    </a:p>
                  </a:txBody>
                  <a:tcPr/>
                </a:tc>
                <a:extLst>
                  <a:ext uri="{0D108BD9-81ED-4DB2-BD59-A6C34878D82A}">
                    <a16:rowId xmlns:a16="http://schemas.microsoft.com/office/drawing/2014/main" val="3592141864"/>
                  </a:ext>
                </a:extLst>
              </a:tr>
              <a:tr h="432986">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fr-FR" b="1" dirty="0" smtClean="0"/>
                        <a:t>Mercredi 27 mai</a:t>
                      </a:r>
                    </a:p>
                  </a:txBody>
                  <a:tcPr/>
                </a:tc>
                <a:tc>
                  <a:txBody>
                    <a:bodyPr/>
                    <a:lstStyle/>
                    <a:p>
                      <a:r>
                        <a:rPr lang="fr-FR" b="1" dirty="0" smtClean="0"/>
                        <a:t>2h</a:t>
                      </a:r>
                      <a:endParaRPr lang="fr-FR" b="1" dirty="0"/>
                    </a:p>
                  </a:txBody>
                  <a:tcPr/>
                </a:tc>
                <a:tc>
                  <a:txBody>
                    <a:bodyPr/>
                    <a:lstStyle/>
                    <a:p>
                      <a:r>
                        <a:rPr lang="fr-FR" dirty="0" smtClean="0"/>
                        <a:t>Présentation</a:t>
                      </a:r>
                      <a:endParaRPr lang="fr-FR" dirty="0"/>
                    </a:p>
                  </a:txBody>
                  <a:tcPr/>
                </a:tc>
                <a:extLst>
                  <a:ext uri="{0D108BD9-81ED-4DB2-BD59-A6C34878D82A}">
                    <a16:rowId xmlns:a16="http://schemas.microsoft.com/office/drawing/2014/main" val="1455700572"/>
                  </a:ext>
                </a:extLst>
              </a:tr>
              <a:tr h="432986">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fr-FR" b="1" dirty="0" smtClean="0"/>
                    </a:p>
                  </a:txBody>
                  <a:tcPr/>
                </a:tc>
                <a:tc>
                  <a:txBody>
                    <a:bodyPr/>
                    <a:lstStyle/>
                    <a:p>
                      <a:r>
                        <a:rPr lang="fr-FR" b="1" dirty="0" smtClean="0"/>
                        <a:t>34 h </a:t>
                      </a:r>
                      <a:endParaRPr lang="fr-FR" b="1" dirty="0"/>
                    </a:p>
                  </a:txBody>
                  <a:tcPr/>
                </a:tc>
                <a:tc>
                  <a:txBody>
                    <a:bodyPr/>
                    <a:lstStyle/>
                    <a:p>
                      <a:endParaRPr lang="fr-FR" dirty="0"/>
                    </a:p>
                  </a:txBody>
                  <a:tcPr/>
                </a:tc>
                <a:extLst>
                  <a:ext uri="{0D108BD9-81ED-4DB2-BD59-A6C34878D82A}">
                    <a16:rowId xmlns:a16="http://schemas.microsoft.com/office/drawing/2014/main" val="1986573424"/>
                  </a:ext>
                </a:extLst>
              </a:tr>
            </a:tbl>
          </a:graphicData>
        </a:graphic>
      </p:graphicFrame>
    </p:spTree>
    <p:extLst>
      <p:ext uri="{BB962C8B-B14F-4D97-AF65-F5344CB8AC3E}">
        <p14:creationId xmlns:p14="http://schemas.microsoft.com/office/powerpoint/2010/main" val="22767297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Quelques définitions</a:t>
            </a:r>
            <a:endParaRPr lang="fr-FR" dirty="0"/>
          </a:p>
        </p:txBody>
      </p:sp>
      <p:sp>
        <p:nvSpPr>
          <p:cNvPr id="3" name="Espace réservé du texte 2"/>
          <p:cNvSpPr>
            <a:spLocks noGrp="1"/>
          </p:cNvSpPr>
          <p:nvPr>
            <p:ph type="body" idx="1"/>
          </p:nvPr>
        </p:nvSpPr>
        <p:spPr/>
        <p:txBody>
          <a:bodyPr/>
          <a:lstStyle/>
          <a:p>
            <a:endParaRPr lang="fr-FR"/>
          </a:p>
        </p:txBody>
      </p:sp>
    </p:spTree>
    <p:extLst>
      <p:ext uri="{BB962C8B-B14F-4D97-AF65-F5344CB8AC3E}">
        <p14:creationId xmlns:p14="http://schemas.microsoft.com/office/powerpoint/2010/main" val="41194561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18712" y="399062"/>
            <a:ext cx="10571998" cy="970450"/>
          </a:xfrm>
        </p:spPr>
        <p:txBody>
          <a:bodyPr/>
          <a:lstStyle/>
          <a:p>
            <a:r>
              <a:rPr lang="fr-FR" dirty="0" smtClean="0"/>
              <a:t>Quelques définitions</a:t>
            </a:r>
            <a:endParaRPr lang="fr-FR" dirty="0"/>
          </a:p>
        </p:txBody>
      </p:sp>
      <p:sp>
        <p:nvSpPr>
          <p:cNvPr id="3" name="Espace réservé du contenu 2"/>
          <p:cNvSpPr>
            <a:spLocks noGrp="1"/>
          </p:cNvSpPr>
          <p:nvPr>
            <p:ph idx="1"/>
          </p:nvPr>
        </p:nvSpPr>
        <p:spPr>
          <a:xfrm>
            <a:off x="175847" y="2496893"/>
            <a:ext cx="7193114" cy="3636511"/>
          </a:xfrm>
        </p:spPr>
        <p:txBody>
          <a:bodyPr>
            <a:normAutofit fontScale="85000" lnSpcReduction="10000"/>
          </a:bodyPr>
          <a:lstStyle/>
          <a:p>
            <a:pPr marL="0" indent="0" algn="ctr">
              <a:buNone/>
            </a:pPr>
            <a:r>
              <a:rPr lang="fr-FR" sz="2800" b="1" dirty="0"/>
              <a:t>Une mesure : </a:t>
            </a:r>
            <a:r>
              <a:rPr lang="fr-FR" sz="2800" dirty="0"/>
              <a:t>une mesure est une valeur numérique représentant une grandeur (comme par exemple le chiffre d’affaire ou le prix d’un produit). Le moyen mnémotechnique pour s’en souvenir est de penser qu’une mesure peut se mesurer (tout simplement). Peut être collecter ou présente dans une base de donnée  (exemple : le mois dernier on a enregistré 1000 inscription en IUT). La mesure ne permet pas de prendre une décision.</a:t>
            </a:r>
          </a:p>
          <a:p>
            <a:endParaRPr lang="fr-FR" dirty="0" smtClean="0"/>
          </a:p>
          <a:p>
            <a:endParaRPr lang="fr-FR" dirty="0"/>
          </a:p>
        </p:txBody>
      </p:sp>
      <p:pic>
        <p:nvPicPr>
          <p:cNvPr id="5" name="Image 4"/>
          <p:cNvPicPr>
            <a:picLocks noChangeAspect="1"/>
          </p:cNvPicPr>
          <p:nvPr/>
        </p:nvPicPr>
        <p:blipFill>
          <a:blip r:embed="rId3"/>
          <a:stretch>
            <a:fillRect/>
          </a:stretch>
        </p:blipFill>
        <p:spPr>
          <a:xfrm>
            <a:off x="7720653" y="2340255"/>
            <a:ext cx="3793149" cy="3793149"/>
          </a:xfrm>
          <a:prstGeom prst="rect">
            <a:avLst/>
          </a:prstGeom>
        </p:spPr>
      </p:pic>
    </p:spTree>
    <p:extLst>
      <p:ext uri="{BB962C8B-B14F-4D97-AF65-F5344CB8AC3E}">
        <p14:creationId xmlns:p14="http://schemas.microsoft.com/office/powerpoint/2010/main" val="42277347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18712" y="399062"/>
            <a:ext cx="10571998" cy="970450"/>
          </a:xfrm>
        </p:spPr>
        <p:txBody>
          <a:bodyPr/>
          <a:lstStyle/>
          <a:p>
            <a:r>
              <a:rPr lang="fr-FR" dirty="0" smtClean="0"/>
              <a:t>Quelques définitions</a:t>
            </a:r>
            <a:endParaRPr lang="fr-FR" dirty="0"/>
          </a:p>
        </p:txBody>
      </p:sp>
      <p:sp>
        <p:nvSpPr>
          <p:cNvPr id="3" name="Espace réservé du contenu 2"/>
          <p:cNvSpPr>
            <a:spLocks noGrp="1"/>
          </p:cNvSpPr>
          <p:nvPr>
            <p:ph idx="1"/>
          </p:nvPr>
        </p:nvSpPr>
        <p:spPr>
          <a:xfrm>
            <a:off x="818712" y="2575213"/>
            <a:ext cx="10554574" cy="3636511"/>
          </a:xfrm>
        </p:spPr>
        <p:txBody>
          <a:bodyPr>
            <a:normAutofit/>
          </a:bodyPr>
          <a:lstStyle/>
          <a:p>
            <a:pPr marL="0" indent="0" algn="ctr">
              <a:buNone/>
            </a:pPr>
            <a:r>
              <a:rPr lang="fr-FR" sz="2800" b="1" dirty="0"/>
              <a:t>Une agrégation : </a:t>
            </a:r>
            <a:r>
              <a:rPr lang="fr-FR" sz="2800" dirty="0"/>
              <a:t>résultat de l’application d’une règle de calcul à une mesure ou plusieurs mesures explorées selon une ou plusieurs dimensions. Par exemple le calcul de la somme du CA d’un magasin pendant un trimestre est le résultat (donc l'agrégation) de la somme de l’ensemble des données de CA journalière pendant ce trimestre. Ne renvoie qu’une seule ligne.</a:t>
            </a:r>
          </a:p>
          <a:p>
            <a:endParaRPr lang="fr-FR" dirty="0" smtClean="0"/>
          </a:p>
          <a:p>
            <a:endParaRPr lang="fr-FR" dirty="0"/>
          </a:p>
        </p:txBody>
      </p:sp>
    </p:spTree>
    <p:extLst>
      <p:ext uri="{BB962C8B-B14F-4D97-AF65-F5344CB8AC3E}">
        <p14:creationId xmlns:p14="http://schemas.microsoft.com/office/powerpoint/2010/main" val="19083786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18712" y="399062"/>
            <a:ext cx="10571998" cy="970450"/>
          </a:xfrm>
        </p:spPr>
        <p:txBody>
          <a:bodyPr/>
          <a:lstStyle/>
          <a:p>
            <a:r>
              <a:rPr lang="fr-FR" dirty="0" smtClean="0"/>
              <a:t>Quelques définitions</a:t>
            </a:r>
            <a:endParaRPr lang="fr-FR" dirty="0"/>
          </a:p>
        </p:txBody>
      </p:sp>
      <p:sp>
        <p:nvSpPr>
          <p:cNvPr id="3" name="Espace réservé du contenu 2"/>
          <p:cNvSpPr>
            <a:spLocks noGrp="1"/>
          </p:cNvSpPr>
          <p:nvPr>
            <p:ph idx="1"/>
          </p:nvPr>
        </p:nvSpPr>
        <p:spPr>
          <a:xfrm>
            <a:off x="818712" y="2575213"/>
            <a:ext cx="10554574" cy="3636511"/>
          </a:xfrm>
        </p:spPr>
        <p:txBody>
          <a:bodyPr>
            <a:normAutofit/>
          </a:bodyPr>
          <a:lstStyle/>
          <a:p>
            <a:pPr marL="0" indent="0" algn="ctr">
              <a:buNone/>
            </a:pPr>
            <a:r>
              <a:rPr lang="fr-FR" sz="2800" b="1" dirty="0"/>
              <a:t>Une dimension :  </a:t>
            </a:r>
            <a:r>
              <a:rPr lang="fr-FR" sz="2800" dirty="0"/>
              <a:t>est un axe d’analyse organisé ou non selon une ou plusieurs hiérarchies. Une dimension peut être discrète, ce qui implique que ses membres n’ont pas d’ordre particulier (par exemple les départements de France). Elle peut également être continue, dans ce cas l’ordre des membres a une </a:t>
            </a:r>
            <a:r>
              <a:rPr lang="fr-FR" sz="2800" dirty="0" smtClean="0"/>
              <a:t>importance. (clef primaire)</a:t>
            </a:r>
            <a:endParaRPr lang="fr-FR" sz="2800" dirty="0"/>
          </a:p>
          <a:p>
            <a:endParaRPr lang="fr-FR" dirty="0" smtClean="0"/>
          </a:p>
          <a:p>
            <a:endParaRPr lang="fr-FR" dirty="0"/>
          </a:p>
        </p:txBody>
      </p:sp>
    </p:spTree>
    <p:extLst>
      <p:ext uri="{BB962C8B-B14F-4D97-AF65-F5344CB8AC3E}">
        <p14:creationId xmlns:p14="http://schemas.microsoft.com/office/powerpoint/2010/main" val="4228824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18712" y="399062"/>
            <a:ext cx="10571998" cy="970450"/>
          </a:xfrm>
        </p:spPr>
        <p:txBody>
          <a:bodyPr/>
          <a:lstStyle/>
          <a:p>
            <a:r>
              <a:rPr lang="fr-FR" dirty="0" smtClean="0"/>
              <a:t>Quelques définitions</a:t>
            </a:r>
            <a:endParaRPr lang="fr-FR" dirty="0"/>
          </a:p>
        </p:txBody>
      </p:sp>
      <p:sp>
        <p:nvSpPr>
          <p:cNvPr id="3" name="Espace réservé du contenu 2"/>
          <p:cNvSpPr>
            <a:spLocks noGrp="1"/>
          </p:cNvSpPr>
          <p:nvPr>
            <p:ph idx="1"/>
          </p:nvPr>
        </p:nvSpPr>
        <p:spPr>
          <a:xfrm>
            <a:off x="818712" y="2142076"/>
            <a:ext cx="10554574" cy="3636511"/>
          </a:xfrm>
        </p:spPr>
        <p:txBody>
          <a:bodyPr>
            <a:normAutofit/>
          </a:bodyPr>
          <a:lstStyle/>
          <a:p>
            <a:pPr marL="0" indent="0">
              <a:buNone/>
            </a:pPr>
            <a:r>
              <a:rPr lang="fr-FR" sz="2800" b="1" dirty="0" smtClean="0"/>
              <a:t>Un fait  : </a:t>
            </a:r>
            <a:r>
              <a:rPr lang="fr-FR" sz="2800" dirty="0" smtClean="0"/>
              <a:t>Le fait représente la valeur d’une mesure, calculée ou non selon un membre de chacune des dimension. Ce </a:t>
            </a:r>
            <a:r>
              <a:rPr lang="fr-FR" sz="2800" dirty="0"/>
              <a:t>sur quoi va porter l'analyse. </a:t>
            </a:r>
            <a:r>
              <a:rPr lang="fr-FR" sz="2800" dirty="0" smtClean="0"/>
              <a:t>(ex : chiffre </a:t>
            </a:r>
            <a:r>
              <a:rPr lang="fr-FR" sz="2800" dirty="0"/>
              <a:t>d'affaire net, quantités et montants commandés, quantités facturées, quantités retournées, volumes des ventes, etc</a:t>
            </a:r>
            <a:r>
              <a:rPr lang="fr-FR" sz="2800" dirty="0" smtClean="0"/>
              <a:t>.) (clef composée = clefs étrangères des dimensions)</a:t>
            </a:r>
          </a:p>
          <a:p>
            <a:endParaRPr lang="fr-FR" dirty="0"/>
          </a:p>
        </p:txBody>
      </p:sp>
    </p:spTree>
    <p:extLst>
      <p:ext uri="{BB962C8B-B14F-4D97-AF65-F5344CB8AC3E}">
        <p14:creationId xmlns:p14="http://schemas.microsoft.com/office/powerpoint/2010/main" val="15405987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18712" y="399062"/>
            <a:ext cx="10571998" cy="970450"/>
          </a:xfrm>
        </p:spPr>
        <p:txBody>
          <a:bodyPr/>
          <a:lstStyle/>
          <a:p>
            <a:r>
              <a:rPr lang="fr-FR" dirty="0" smtClean="0"/>
              <a:t>Quelques définitions</a:t>
            </a:r>
            <a:endParaRPr lang="fr-FR" dirty="0"/>
          </a:p>
        </p:txBody>
      </p:sp>
      <p:sp>
        <p:nvSpPr>
          <p:cNvPr id="3" name="Espace réservé du contenu 2"/>
          <p:cNvSpPr>
            <a:spLocks noGrp="1"/>
          </p:cNvSpPr>
          <p:nvPr>
            <p:ph idx="1"/>
          </p:nvPr>
        </p:nvSpPr>
        <p:spPr>
          <a:xfrm>
            <a:off x="818712" y="2575213"/>
            <a:ext cx="10554574" cy="3636511"/>
          </a:xfrm>
        </p:spPr>
        <p:txBody>
          <a:bodyPr>
            <a:normAutofit/>
          </a:bodyPr>
          <a:lstStyle/>
          <a:p>
            <a:pPr marL="0" indent="0" algn="ctr">
              <a:buNone/>
            </a:pPr>
            <a:r>
              <a:rPr lang="fr-FR" sz="2800" b="1" dirty="0"/>
              <a:t>Une indicateur : </a:t>
            </a:r>
            <a:r>
              <a:rPr lang="fr-FR" sz="2800" dirty="0"/>
              <a:t>résultat d’un calcul ou d’une agrégation de plusieurs mesures. Donnée à laquelle on donne un sens et qui permet de prendre une décision ( Exemple : le mois dernier on a enregistré une augmentation de 20% du nombre d’inscriptions en IUT)</a:t>
            </a:r>
          </a:p>
          <a:p>
            <a:endParaRPr lang="fr-FR" dirty="0" smtClean="0"/>
          </a:p>
          <a:p>
            <a:endParaRPr lang="fr-FR" dirty="0"/>
          </a:p>
        </p:txBody>
      </p:sp>
    </p:spTree>
    <p:extLst>
      <p:ext uri="{BB962C8B-B14F-4D97-AF65-F5344CB8AC3E}">
        <p14:creationId xmlns:p14="http://schemas.microsoft.com/office/powerpoint/2010/main" val="10174696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18712" y="399062"/>
            <a:ext cx="10571998" cy="970450"/>
          </a:xfrm>
        </p:spPr>
        <p:txBody>
          <a:bodyPr/>
          <a:lstStyle/>
          <a:p>
            <a:r>
              <a:rPr lang="fr-FR" dirty="0" smtClean="0"/>
              <a:t>Quelques définitions</a:t>
            </a:r>
            <a:endParaRPr lang="fr-FR" dirty="0"/>
          </a:p>
        </p:txBody>
      </p:sp>
      <p:sp>
        <p:nvSpPr>
          <p:cNvPr id="3" name="Espace réservé du contenu 2"/>
          <p:cNvSpPr>
            <a:spLocks noGrp="1"/>
          </p:cNvSpPr>
          <p:nvPr>
            <p:ph idx="1"/>
          </p:nvPr>
        </p:nvSpPr>
        <p:spPr>
          <a:xfrm>
            <a:off x="818712" y="2575213"/>
            <a:ext cx="6512530" cy="3636511"/>
          </a:xfrm>
        </p:spPr>
        <p:txBody>
          <a:bodyPr>
            <a:normAutofit lnSpcReduction="10000"/>
          </a:bodyPr>
          <a:lstStyle/>
          <a:p>
            <a:pPr marL="0" indent="0" algn="ctr">
              <a:buNone/>
            </a:pPr>
            <a:r>
              <a:rPr lang="fr-FR" sz="2800" b="1" dirty="0"/>
              <a:t>Indicateurs clés de performance (KPI) : </a:t>
            </a:r>
            <a:r>
              <a:rPr lang="fr-FR" sz="2800" dirty="0"/>
              <a:t>indicateurs sur lesquels les collaborateurs d’une entreprise se basent afin de savoir si leurs objectifs ont bien été atteints. On y associe souvent un objectif à atteindre et on peut utiliser un code couleur pour qualifier l’atteinte de cet objectif (vert, jaune, rouge)</a:t>
            </a:r>
          </a:p>
          <a:p>
            <a:endParaRPr lang="fr-FR" dirty="0" smtClean="0"/>
          </a:p>
          <a:p>
            <a:endParaRPr lang="fr-FR" dirty="0"/>
          </a:p>
        </p:txBody>
      </p:sp>
      <p:pic>
        <p:nvPicPr>
          <p:cNvPr id="4" name="Espace réservé du contenu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36181" y="2326106"/>
            <a:ext cx="3223793" cy="3440231"/>
          </a:xfrm>
          <a:prstGeom prst="rect">
            <a:avLst/>
          </a:prstGeom>
        </p:spPr>
      </p:pic>
    </p:spTree>
    <p:extLst>
      <p:ext uri="{BB962C8B-B14F-4D97-AF65-F5344CB8AC3E}">
        <p14:creationId xmlns:p14="http://schemas.microsoft.com/office/powerpoint/2010/main" val="42266100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18712" y="399062"/>
            <a:ext cx="10571998" cy="970450"/>
          </a:xfrm>
        </p:spPr>
        <p:txBody>
          <a:bodyPr/>
          <a:lstStyle/>
          <a:p>
            <a:r>
              <a:rPr lang="fr-FR" dirty="0" smtClean="0"/>
              <a:t>Quelques définitions</a:t>
            </a:r>
            <a:endParaRPr lang="fr-FR" dirty="0"/>
          </a:p>
        </p:txBody>
      </p:sp>
      <p:sp>
        <p:nvSpPr>
          <p:cNvPr id="3" name="Espace réservé du contenu 2"/>
          <p:cNvSpPr>
            <a:spLocks noGrp="1"/>
          </p:cNvSpPr>
          <p:nvPr>
            <p:ph idx="1"/>
          </p:nvPr>
        </p:nvSpPr>
        <p:spPr>
          <a:xfrm>
            <a:off x="818712" y="2575213"/>
            <a:ext cx="10554574" cy="3636511"/>
          </a:xfrm>
        </p:spPr>
        <p:txBody>
          <a:bodyPr>
            <a:normAutofit/>
          </a:bodyPr>
          <a:lstStyle/>
          <a:p>
            <a:pPr marL="0" indent="0" algn="ctr">
              <a:buNone/>
            </a:pPr>
            <a:r>
              <a:rPr lang="fr-FR" sz="2400" b="1" dirty="0"/>
              <a:t>Le tableau de </a:t>
            </a:r>
            <a:r>
              <a:rPr lang="fr-FR" sz="2400" b="1" dirty="0" smtClean="0"/>
              <a:t>bord (Dashboard) :  </a:t>
            </a:r>
            <a:r>
              <a:rPr lang="fr-FR" sz="2400" dirty="0"/>
              <a:t>est </a:t>
            </a:r>
            <a:r>
              <a:rPr lang="fr-FR" sz="2400" dirty="0" err="1"/>
              <a:t>lʼinstrument</a:t>
            </a:r>
            <a:r>
              <a:rPr lang="fr-FR" sz="2400" dirty="0"/>
              <a:t> de </a:t>
            </a:r>
            <a:r>
              <a:rPr lang="fr-FR" sz="2400" dirty="0" err="1"/>
              <a:t>lʼaide</a:t>
            </a:r>
            <a:r>
              <a:rPr lang="fr-FR" sz="2400" dirty="0"/>
              <a:t> à la </a:t>
            </a:r>
            <a:r>
              <a:rPr lang="fr-FR" sz="2400" dirty="0" smtClean="0"/>
              <a:t>décision. Pour </a:t>
            </a:r>
            <a:r>
              <a:rPr lang="fr-FR" sz="2400" dirty="0"/>
              <a:t>être réactif et prospectif, donc efficace, </a:t>
            </a:r>
            <a:r>
              <a:rPr lang="fr-FR" sz="2400" dirty="0" smtClean="0"/>
              <a:t>chaque décideur</a:t>
            </a:r>
            <a:r>
              <a:rPr lang="fr-FR" sz="2400" dirty="0"/>
              <a:t>, expert en son domaine d’intervention, doit disposer impérativement </a:t>
            </a:r>
            <a:r>
              <a:rPr lang="fr-FR" sz="2400" dirty="0" smtClean="0"/>
              <a:t>d’un tableau </a:t>
            </a:r>
            <a:r>
              <a:rPr lang="fr-FR" sz="2400" dirty="0"/>
              <a:t>de bord à part entière, composé d’indicateurs minutieusement </a:t>
            </a:r>
            <a:r>
              <a:rPr lang="fr-FR" sz="2400" dirty="0" smtClean="0"/>
              <a:t>sélectionnés par </a:t>
            </a:r>
            <a:r>
              <a:rPr lang="fr-FR" sz="2400" dirty="0"/>
              <a:t>ses soins. Le tableau de bord, instrument incontournable de l’aide à la </a:t>
            </a:r>
            <a:r>
              <a:rPr lang="fr-FR" sz="2400" dirty="0" smtClean="0"/>
              <a:t>décision, est </a:t>
            </a:r>
            <a:r>
              <a:rPr lang="fr-FR" sz="2400" dirty="0"/>
              <a:t>l’assistant du décideur dans sa démarche d’amélioration continue de </a:t>
            </a:r>
            <a:r>
              <a:rPr lang="fr-FR" sz="2400" dirty="0" smtClean="0"/>
              <a:t>la performance </a:t>
            </a:r>
            <a:r>
              <a:rPr lang="fr-FR" sz="2400" dirty="0"/>
              <a:t>au sens de la stratégie poursuivie.</a:t>
            </a:r>
            <a:endParaRPr lang="fr-FR" sz="2400" dirty="0" smtClean="0"/>
          </a:p>
          <a:p>
            <a:endParaRPr lang="fr-FR" dirty="0"/>
          </a:p>
        </p:txBody>
      </p:sp>
    </p:spTree>
    <p:extLst>
      <p:ext uri="{BB962C8B-B14F-4D97-AF65-F5344CB8AC3E}">
        <p14:creationId xmlns:p14="http://schemas.microsoft.com/office/powerpoint/2010/main" val="3162179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De la donnée vers la data… </a:t>
            </a:r>
            <a:endParaRPr lang="fr-FR" dirty="0"/>
          </a:p>
        </p:txBody>
      </p:sp>
      <p:sp>
        <p:nvSpPr>
          <p:cNvPr id="3" name="Espace réservé du texte 2"/>
          <p:cNvSpPr>
            <a:spLocks noGrp="1"/>
          </p:cNvSpPr>
          <p:nvPr>
            <p:ph type="body" idx="1"/>
          </p:nvPr>
        </p:nvSpPr>
        <p:spPr/>
        <p:txBody>
          <a:bodyPr/>
          <a:lstStyle/>
          <a:p>
            <a:endParaRPr lang="fr-FR"/>
          </a:p>
        </p:txBody>
      </p:sp>
    </p:spTree>
    <p:extLst>
      <p:ext uri="{BB962C8B-B14F-4D97-AF65-F5344CB8AC3E}">
        <p14:creationId xmlns:p14="http://schemas.microsoft.com/office/powerpoint/2010/main" val="10734072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742950" y="304800"/>
            <a:ext cx="11296650" cy="1064712"/>
          </a:xfrm>
        </p:spPr>
        <p:txBody>
          <a:bodyPr/>
          <a:lstStyle/>
          <a:p>
            <a:r>
              <a:rPr lang="fr-FR" dirty="0" smtClean="0"/>
              <a:t>De la donnée opérationnelle vers la donnée décisionnelle</a:t>
            </a:r>
            <a:endParaRPr lang="fr-FR" dirty="0"/>
          </a:p>
        </p:txBody>
      </p:sp>
      <p:sp>
        <p:nvSpPr>
          <p:cNvPr id="3" name="Espace réservé du contenu 2"/>
          <p:cNvSpPr>
            <a:spLocks noGrp="1"/>
          </p:cNvSpPr>
          <p:nvPr>
            <p:ph idx="1"/>
          </p:nvPr>
        </p:nvSpPr>
        <p:spPr>
          <a:xfrm>
            <a:off x="818712" y="2305050"/>
            <a:ext cx="10554574" cy="4552949"/>
          </a:xfrm>
        </p:spPr>
        <p:txBody>
          <a:bodyPr/>
          <a:lstStyle/>
          <a:p>
            <a:r>
              <a:rPr lang="fr-FR" sz="2000" dirty="0" smtClean="0"/>
              <a:t>Les </a:t>
            </a:r>
            <a:r>
              <a:rPr lang="fr-FR" sz="2000" dirty="0"/>
              <a:t>données sont restructurées, enrichies, agrégées, reformatées, </a:t>
            </a:r>
            <a:r>
              <a:rPr lang="fr-FR" sz="2000" dirty="0" err="1"/>
              <a:t>nomenclaturées</a:t>
            </a:r>
            <a:r>
              <a:rPr lang="fr-FR" sz="2000" dirty="0"/>
              <a:t> pour être présentées à l'utilisateur sous une forme sémantique (vues métiers ayant du sens) qui permet aux décideurs d'interagir avec les données sans avoir à connaître leur structure de stockage </a:t>
            </a:r>
            <a:r>
              <a:rPr lang="fr-FR" sz="2000" dirty="0" smtClean="0"/>
              <a:t>physique.</a:t>
            </a:r>
          </a:p>
          <a:p>
            <a:r>
              <a:rPr lang="fr-FR" sz="2000" dirty="0" smtClean="0"/>
              <a:t>Les schémas </a:t>
            </a:r>
            <a:r>
              <a:rPr lang="fr-FR" sz="2000" dirty="0"/>
              <a:t>en </a:t>
            </a:r>
            <a:r>
              <a:rPr lang="fr-FR" sz="2000" dirty="0" smtClean="0"/>
              <a:t>étoile (ou en flocons) </a:t>
            </a:r>
            <a:r>
              <a:rPr lang="fr-FR" sz="2000" dirty="0"/>
              <a:t>qui permettent de répartir les faits et mesures selon des dimensions hiérarchisées, de rapports pré-préparés paramétrables, de tableaux de bords plus synthétiques et interactifs.</a:t>
            </a:r>
          </a:p>
          <a:p>
            <a:r>
              <a:rPr lang="fr-FR" sz="2000" dirty="0"/>
              <a:t>Ces données sont livrées aux divers domaines fonctionnels (direction stratégique, finance, production, comptabilité, ressources humaines, etc.) à travers un système de sécurité ou de </a:t>
            </a:r>
            <a:r>
              <a:rPr lang="fr-FR" sz="2000" dirty="0" err="1"/>
              <a:t>datamart</a:t>
            </a:r>
            <a:r>
              <a:rPr lang="fr-FR" sz="2000" dirty="0"/>
              <a:t> spécialisés à des fins de consultations, d'analyse, d'alertes prédéfinies, d'exploration de données, etc.</a:t>
            </a:r>
          </a:p>
          <a:p>
            <a:endParaRPr lang="fr-FR" dirty="0" smtClean="0"/>
          </a:p>
          <a:p>
            <a:endParaRPr lang="fr-FR" dirty="0"/>
          </a:p>
        </p:txBody>
      </p:sp>
    </p:spTree>
    <p:extLst>
      <p:ext uri="{BB962C8B-B14F-4D97-AF65-F5344CB8AC3E}">
        <p14:creationId xmlns:p14="http://schemas.microsoft.com/office/powerpoint/2010/main" val="24852098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a:stretch>
            <a:fillRect/>
          </a:stretch>
        </p:blipFill>
        <p:spPr>
          <a:xfrm>
            <a:off x="1171075" y="226284"/>
            <a:ext cx="9710236" cy="5817052"/>
          </a:xfrm>
          <a:prstGeom prst="rect">
            <a:avLst/>
          </a:prstGeom>
        </p:spPr>
      </p:pic>
    </p:spTree>
    <p:extLst>
      <p:ext uri="{BB962C8B-B14F-4D97-AF65-F5344CB8AC3E}">
        <p14:creationId xmlns:p14="http://schemas.microsoft.com/office/powerpoint/2010/main" val="25276866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18712" y="399062"/>
            <a:ext cx="10571998" cy="970450"/>
          </a:xfrm>
        </p:spPr>
        <p:txBody>
          <a:bodyPr/>
          <a:lstStyle/>
          <a:p>
            <a:r>
              <a:rPr lang="fr-FR" dirty="0" smtClean="0"/>
              <a:t>Les étapes de la Business Intelligence</a:t>
            </a:r>
            <a:endParaRPr lang="fr-FR" dirty="0"/>
          </a:p>
        </p:txBody>
      </p:sp>
      <p:sp>
        <p:nvSpPr>
          <p:cNvPr id="3" name="Espace réservé du contenu 2"/>
          <p:cNvSpPr>
            <a:spLocks noGrp="1"/>
          </p:cNvSpPr>
          <p:nvPr>
            <p:ph idx="1"/>
          </p:nvPr>
        </p:nvSpPr>
        <p:spPr>
          <a:xfrm>
            <a:off x="284717" y="2171701"/>
            <a:ext cx="11639988" cy="4686300"/>
          </a:xfrm>
        </p:spPr>
        <p:txBody>
          <a:bodyPr>
            <a:normAutofit fontScale="92500" lnSpcReduction="20000"/>
          </a:bodyPr>
          <a:lstStyle/>
          <a:p>
            <a:r>
              <a:rPr lang="fr-FR" sz="2400" b="1" dirty="0"/>
              <a:t>La collecte : </a:t>
            </a:r>
            <a:r>
              <a:rPr lang="fr-FR" sz="2400" dirty="0"/>
              <a:t>extraction des données brutes issues de systèmes hétérogènes </a:t>
            </a:r>
          </a:p>
          <a:p>
            <a:r>
              <a:rPr lang="fr-FR" sz="2400" b="1" dirty="0"/>
              <a:t>L’intégration : </a:t>
            </a:r>
            <a:r>
              <a:rPr lang="fr-FR" sz="2400" dirty="0"/>
              <a:t>des données qui peuvent être agrégées dans une source d'information commune, homogène, normalisée et fiable, au sein d'un système unique et si possible normalisé. (dans un </a:t>
            </a:r>
            <a:r>
              <a:rPr lang="fr-FR" sz="2400" dirty="0" err="1"/>
              <a:t>datawarehosue</a:t>
            </a:r>
            <a:r>
              <a:rPr lang="fr-FR" sz="2400" dirty="0"/>
              <a:t> par exemple via processus ETL). Quelles données ?</a:t>
            </a:r>
          </a:p>
          <a:p>
            <a:r>
              <a:rPr lang="fr-FR" sz="2400" b="1" dirty="0"/>
              <a:t>La diffusion : </a:t>
            </a:r>
            <a:r>
              <a:rPr lang="fr-FR" sz="2400" dirty="0"/>
              <a:t>mise à disposition des données à l’utilisateur (</a:t>
            </a:r>
            <a:r>
              <a:rPr lang="fr-FR" sz="2400" dirty="0" err="1"/>
              <a:t>datamart</a:t>
            </a:r>
            <a:r>
              <a:rPr lang="fr-FR" sz="2400" dirty="0" smtClean="0"/>
              <a:t>)</a:t>
            </a:r>
            <a:endParaRPr lang="fr-FR" sz="2400" dirty="0"/>
          </a:p>
          <a:p>
            <a:r>
              <a:rPr lang="fr-FR" sz="2400" b="1" dirty="0"/>
              <a:t>La restitution et la présentation </a:t>
            </a:r>
          </a:p>
          <a:p>
            <a:pPr lvl="1"/>
            <a:r>
              <a:rPr lang="fr-FR" sz="2400" dirty="0"/>
              <a:t>À qui s'adresse le rapport spécialisé ?</a:t>
            </a:r>
          </a:p>
          <a:p>
            <a:pPr lvl="1"/>
            <a:r>
              <a:rPr lang="fr-FR" sz="2400" dirty="0"/>
              <a:t>Quels indicateurs à présenter, choix de la mise en page</a:t>
            </a:r>
          </a:p>
          <a:p>
            <a:pPr lvl="1"/>
            <a:r>
              <a:rPr lang="fr-FR" sz="2400" dirty="0"/>
              <a:t>Selon quel agenda ? : diffusion routinière ou déclenchée sur événement </a:t>
            </a:r>
            <a:r>
              <a:rPr lang="fr-FR" sz="2400" dirty="0" smtClean="0"/>
              <a:t>prédéfini</a:t>
            </a:r>
            <a:endParaRPr lang="fr-FR" sz="2400" dirty="0"/>
          </a:p>
          <a:p>
            <a:r>
              <a:rPr lang="fr-FR" sz="2400" b="1" dirty="0"/>
              <a:t>L’administration</a:t>
            </a:r>
          </a:p>
          <a:p>
            <a:endParaRPr lang="fr-FR" dirty="0" smtClean="0"/>
          </a:p>
          <a:p>
            <a:endParaRPr lang="fr-FR" dirty="0"/>
          </a:p>
        </p:txBody>
      </p:sp>
    </p:spTree>
    <p:extLst>
      <p:ext uri="{BB962C8B-B14F-4D97-AF65-F5344CB8AC3E}">
        <p14:creationId xmlns:p14="http://schemas.microsoft.com/office/powerpoint/2010/main" val="27515494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Piloter : un travail d’équipe</a:t>
            </a:r>
            <a:endParaRPr lang="fr-FR" dirty="0"/>
          </a:p>
        </p:txBody>
      </p:sp>
      <p:sp>
        <p:nvSpPr>
          <p:cNvPr id="3" name="Espace réservé du texte 2"/>
          <p:cNvSpPr>
            <a:spLocks noGrp="1"/>
          </p:cNvSpPr>
          <p:nvPr>
            <p:ph type="body" idx="1"/>
          </p:nvPr>
        </p:nvSpPr>
        <p:spPr/>
        <p:txBody>
          <a:bodyPr/>
          <a:lstStyle/>
          <a:p>
            <a:endParaRPr lang="fr-FR"/>
          </a:p>
        </p:txBody>
      </p:sp>
    </p:spTree>
    <p:extLst>
      <p:ext uri="{BB962C8B-B14F-4D97-AF65-F5344CB8AC3E}">
        <p14:creationId xmlns:p14="http://schemas.microsoft.com/office/powerpoint/2010/main" val="8297092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761562" y="399062"/>
            <a:ext cx="10571998" cy="970450"/>
          </a:xfrm>
        </p:spPr>
        <p:txBody>
          <a:bodyPr/>
          <a:lstStyle/>
          <a:p>
            <a:r>
              <a:rPr lang="fr-FR" dirty="0" smtClean="0"/>
              <a:t>Une pluralité d’acteurs</a:t>
            </a:r>
            <a:endParaRPr lang="fr-FR" dirty="0"/>
          </a:p>
        </p:txBody>
      </p:sp>
      <p:sp>
        <p:nvSpPr>
          <p:cNvPr id="4" name="Rectangle 3"/>
          <p:cNvSpPr/>
          <p:nvPr/>
        </p:nvSpPr>
        <p:spPr>
          <a:xfrm>
            <a:off x="208546" y="2059406"/>
            <a:ext cx="7822665" cy="4770537"/>
          </a:xfrm>
          <a:prstGeom prst="rect">
            <a:avLst/>
          </a:prstGeom>
        </p:spPr>
        <p:txBody>
          <a:bodyPr wrap="square">
            <a:spAutoFit/>
          </a:bodyPr>
          <a:lstStyle/>
          <a:p>
            <a:pPr marL="285750" indent="-285750">
              <a:buFont typeface="Arial" panose="020B0604020202020204" pitchFamily="34" charset="0"/>
              <a:buChar char="•"/>
            </a:pPr>
            <a:r>
              <a:rPr lang="fr-FR" dirty="0" smtClean="0"/>
              <a:t>Le décideur : Celui qui définit le besoin et qui valide le tableau de bord</a:t>
            </a:r>
          </a:p>
          <a:p>
            <a:pPr marL="285750" indent="-285750">
              <a:buFont typeface="Arial" panose="020B0604020202020204" pitchFamily="34" charset="0"/>
              <a:buChar char="•"/>
            </a:pPr>
            <a:r>
              <a:rPr lang="fr-FR" dirty="0"/>
              <a:t>L</a:t>
            </a:r>
            <a:r>
              <a:rPr lang="fr-FR" dirty="0" smtClean="0"/>
              <a:t>e </a:t>
            </a:r>
            <a:r>
              <a:rPr lang="fr-FR" dirty="0"/>
              <a:t>chef de projet BI : il s’occupe de la gestion du projet. Il traite directement avec le demandeur, et propose la meilleure </a:t>
            </a:r>
            <a:r>
              <a:rPr lang="fr-FR" dirty="0" smtClean="0"/>
              <a:t>solution.</a:t>
            </a:r>
          </a:p>
          <a:p>
            <a:pPr marL="285750" indent="-285750">
              <a:buFont typeface="Arial" panose="020B0604020202020204" pitchFamily="34" charset="0"/>
              <a:buChar char="•"/>
            </a:pPr>
            <a:r>
              <a:rPr lang="fr-FR" dirty="0" smtClean="0"/>
              <a:t>le </a:t>
            </a:r>
            <a:r>
              <a:rPr lang="fr-FR" dirty="0"/>
              <a:t>développeur BI : il développe la solution, éventuellement aidé par un architecte BI, qui apportera ses compétences en construction de </a:t>
            </a:r>
            <a:r>
              <a:rPr lang="fr-FR" dirty="0" err="1"/>
              <a:t>datawarehouse</a:t>
            </a:r>
            <a:r>
              <a:rPr lang="fr-FR" dirty="0"/>
              <a:t> et </a:t>
            </a:r>
            <a:r>
              <a:rPr lang="fr-FR" dirty="0" err="1"/>
              <a:t>datamart</a:t>
            </a:r>
            <a:r>
              <a:rPr lang="fr-FR" dirty="0"/>
              <a:t>. Le développeur est généralement sous la supervision du chef de projet </a:t>
            </a:r>
            <a:r>
              <a:rPr lang="fr-FR" dirty="0" smtClean="0"/>
              <a:t>BI.</a:t>
            </a:r>
          </a:p>
          <a:p>
            <a:pPr marL="285750" indent="-285750">
              <a:buFont typeface="Arial" panose="020B0604020202020204" pitchFamily="34" charset="0"/>
              <a:buChar char="•"/>
            </a:pPr>
            <a:r>
              <a:rPr lang="fr-FR" dirty="0"/>
              <a:t>L</a:t>
            </a:r>
            <a:r>
              <a:rPr lang="fr-FR" dirty="0" smtClean="0"/>
              <a:t>e </a:t>
            </a:r>
            <a:r>
              <a:rPr lang="fr-FR" dirty="0"/>
              <a:t>Data </a:t>
            </a:r>
            <a:r>
              <a:rPr lang="fr-FR" dirty="0" err="1"/>
              <a:t>Analyst</a:t>
            </a:r>
            <a:r>
              <a:rPr lang="fr-FR" dirty="0"/>
              <a:t> : il intervient en aval, est expert des calculs d’indicateurs et de la restitution (graphiques, cartes, différents types de visuels sont possibles) et proposent des analyses stratégiques</a:t>
            </a:r>
            <a:r>
              <a:rPr lang="fr-FR" dirty="0" smtClean="0"/>
              <a:t>.</a:t>
            </a:r>
          </a:p>
          <a:p>
            <a:pPr marL="285750" indent="-285750">
              <a:buFont typeface="Arial" panose="020B0604020202020204" pitchFamily="34" charset="0"/>
              <a:buChar char="•"/>
            </a:pPr>
            <a:endParaRPr lang="fr-FR" dirty="0"/>
          </a:p>
          <a:p>
            <a:r>
              <a:rPr lang="fr-FR" dirty="0"/>
              <a:t>Les experts métiers et autres non professionnels de la BI consultent les applications BI (un tableau de bord par exemple). Ils n’ont pas besoin de compétences techniques pour cela.</a:t>
            </a:r>
          </a:p>
          <a:p>
            <a:endParaRPr lang="fr-FR" sz="1600" dirty="0"/>
          </a:p>
        </p:txBody>
      </p:sp>
      <p:pic>
        <p:nvPicPr>
          <p:cNvPr id="5" name="Image 4"/>
          <p:cNvPicPr>
            <a:picLocks noChangeAspect="1"/>
          </p:cNvPicPr>
          <p:nvPr/>
        </p:nvPicPr>
        <p:blipFill rotWithShape="1">
          <a:blip r:embed="rId3">
            <a:extLst>
              <a:ext uri="{28A0092B-C50C-407E-A947-70E740481C1C}">
                <a14:useLocalDpi xmlns:a14="http://schemas.microsoft.com/office/drawing/2010/main" val="0"/>
              </a:ext>
            </a:extLst>
          </a:blip>
          <a:srcRect l="16555" t="20817" r="15499"/>
          <a:stretch/>
        </p:blipFill>
        <p:spPr>
          <a:xfrm>
            <a:off x="8031212" y="2171702"/>
            <a:ext cx="3929398" cy="2576762"/>
          </a:xfrm>
          <a:prstGeom prst="rect">
            <a:avLst/>
          </a:prstGeom>
        </p:spPr>
      </p:pic>
    </p:spTree>
    <p:extLst>
      <p:ext uri="{BB962C8B-B14F-4D97-AF65-F5344CB8AC3E}">
        <p14:creationId xmlns:p14="http://schemas.microsoft.com/office/powerpoint/2010/main" val="4614041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Les clefs d’une bonne restitution ?</a:t>
            </a:r>
            <a:endParaRPr lang="fr-FR" dirty="0"/>
          </a:p>
        </p:txBody>
      </p:sp>
      <p:sp>
        <p:nvSpPr>
          <p:cNvPr id="3" name="Espace réservé du texte 2"/>
          <p:cNvSpPr>
            <a:spLocks noGrp="1"/>
          </p:cNvSpPr>
          <p:nvPr>
            <p:ph type="body" idx="1"/>
          </p:nvPr>
        </p:nvSpPr>
        <p:spPr/>
        <p:txBody>
          <a:bodyPr/>
          <a:lstStyle/>
          <a:p>
            <a:endParaRPr lang="fr-FR"/>
          </a:p>
        </p:txBody>
      </p:sp>
    </p:spTree>
    <p:extLst>
      <p:ext uri="{BB962C8B-B14F-4D97-AF65-F5344CB8AC3E}">
        <p14:creationId xmlns:p14="http://schemas.microsoft.com/office/powerpoint/2010/main" val="36543739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761562" y="399062"/>
            <a:ext cx="10571998" cy="970450"/>
          </a:xfrm>
        </p:spPr>
        <p:txBody>
          <a:bodyPr/>
          <a:lstStyle/>
          <a:p>
            <a:r>
              <a:rPr lang="fr-FR" dirty="0" smtClean="0"/>
              <a:t>Les clefs d’une bonne restitution</a:t>
            </a:r>
            <a:endParaRPr lang="fr-FR" dirty="0"/>
          </a:p>
        </p:txBody>
      </p:sp>
      <p:sp>
        <p:nvSpPr>
          <p:cNvPr id="6" name="Espace réservé du contenu 5"/>
          <p:cNvSpPr>
            <a:spLocks noGrp="1"/>
          </p:cNvSpPr>
          <p:nvPr>
            <p:ph sz="half" idx="1"/>
          </p:nvPr>
        </p:nvSpPr>
        <p:spPr>
          <a:xfrm>
            <a:off x="590111" y="2323887"/>
            <a:ext cx="11040415" cy="3638763"/>
          </a:xfrm>
        </p:spPr>
        <p:txBody>
          <a:bodyPr/>
          <a:lstStyle/>
          <a:p>
            <a:r>
              <a:rPr lang="fr-FR" dirty="0" smtClean="0"/>
              <a:t>Comprendre le besoin métier (empathie)</a:t>
            </a:r>
          </a:p>
          <a:p>
            <a:r>
              <a:rPr lang="fr-FR" dirty="0" smtClean="0"/>
              <a:t>Synthétiser l’information afin d’aller à l’essentiel rapidement </a:t>
            </a:r>
          </a:p>
          <a:p>
            <a:r>
              <a:rPr lang="fr-FR" dirty="0" smtClean="0"/>
              <a:t>Soigner la data visualisation : utiliser le bon type de présentation des données (graphique , tableau …)</a:t>
            </a:r>
          </a:p>
          <a:p>
            <a:r>
              <a:rPr lang="fr-FR" dirty="0"/>
              <a:t>Assurer le responsive design dans le cas ou il y a plusieurs </a:t>
            </a:r>
            <a:r>
              <a:rPr lang="fr-FR" dirty="0" smtClean="0"/>
              <a:t>supports</a:t>
            </a:r>
          </a:p>
          <a:p>
            <a:r>
              <a:rPr lang="fr-FR" dirty="0" smtClean="0"/>
              <a:t>Penser plus loin</a:t>
            </a:r>
            <a:endParaRPr lang="fr-FR" dirty="0"/>
          </a:p>
          <a:p>
            <a:endParaRPr lang="fr-FR" dirty="0" smtClean="0"/>
          </a:p>
          <a:p>
            <a:pPr marL="0" indent="0">
              <a:buNone/>
            </a:pPr>
            <a:endParaRPr lang="fr-FR" dirty="0" smtClean="0"/>
          </a:p>
          <a:p>
            <a:endParaRPr lang="fr-FR" dirty="0"/>
          </a:p>
        </p:txBody>
      </p:sp>
    </p:spTree>
    <p:extLst>
      <p:ext uri="{BB962C8B-B14F-4D97-AF65-F5344CB8AC3E}">
        <p14:creationId xmlns:p14="http://schemas.microsoft.com/office/powerpoint/2010/main" val="16918651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Projet : analyse d’un cas </a:t>
            </a:r>
            <a:endParaRPr lang="fr-FR" dirty="0"/>
          </a:p>
        </p:txBody>
      </p:sp>
      <p:sp>
        <p:nvSpPr>
          <p:cNvPr id="3" name="Espace réservé du texte 2"/>
          <p:cNvSpPr>
            <a:spLocks noGrp="1"/>
          </p:cNvSpPr>
          <p:nvPr>
            <p:ph type="body" idx="1"/>
          </p:nvPr>
        </p:nvSpPr>
        <p:spPr/>
        <p:txBody>
          <a:bodyPr/>
          <a:lstStyle/>
          <a:p>
            <a:endParaRPr lang="fr-FR"/>
          </a:p>
        </p:txBody>
      </p:sp>
    </p:spTree>
    <p:extLst>
      <p:ext uri="{BB962C8B-B14F-4D97-AF65-F5344CB8AC3E}">
        <p14:creationId xmlns:p14="http://schemas.microsoft.com/office/powerpoint/2010/main" val="40602531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Composition des groupes</a:t>
            </a:r>
            <a:endParaRPr lang="fr-FR" dirty="0"/>
          </a:p>
        </p:txBody>
      </p:sp>
      <p:sp>
        <p:nvSpPr>
          <p:cNvPr id="3" name="Espace réservé du contenu 2"/>
          <p:cNvSpPr>
            <a:spLocks noGrp="1"/>
          </p:cNvSpPr>
          <p:nvPr>
            <p:ph idx="1"/>
          </p:nvPr>
        </p:nvSpPr>
        <p:spPr>
          <a:xfrm>
            <a:off x="809999" y="2041050"/>
            <a:ext cx="7383742" cy="3636511"/>
          </a:xfrm>
        </p:spPr>
        <p:txBody>
          <a:bodyPr>
            <a:normAutofit/>
          </a:bodyPr>
          <a:lstStyle/>
          <a:p>
            <a:pPr marL="0" indent="0">
              <a:buNone/>
            </a:pPr>
            <a:r>
              <a:rPr lang="fr-FR" sz="3600" dirty="0"/>
              <a:t>https://grist.numerique.gouv.fr/o/docs/forms/5RNfXTyHhfhUkH7qBfWR2g/55</a:t>
            </a:r>
          </a:p>
        </p:txBody>
      </p:sp>
      <p:pic>
        <p:nvPicPr>
          <p:cNvPr id="4" name="Imag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24498" y="2609850"/>
            <a:ext cx="2857500" cy="2857500"/>
          </a:xfrm>
          <a:prstGeom prst="rect">
            <a:avLst/>
          </a:prstGeom>
        </p:spPr>
      </p:pic>
    </p:spTree>
    <p:extLst>
      <p:ext uri="{BB962C8B-B14F-4D97-AF65-F5344CB8AC3E}">
        <p14:creationId xmlns:p14="http://schemas.microsoft.com/office/powerpoint/2010/main" val="31550922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L’Agence immobilière</a:t>
            </a:r>
            <a:endParaRPr lang="fr-FR" dirty="0"/>
          </a:p>
        </p:txBody>
      </p:sp>
      <p:sp>
        <p:nvSpPr>
          <p:cNvPr id="3" name="Espace réservé du contenu 2"/>
          <p:cNvSpPr>
            <a:spLocks noGrp="1"/>
          </p:cNvSpPr>
          <p:nvPr>
            <p:ph idx="1"/>
          </p:nvPr>
        </p:nvSpPr>
        <p:spPr>
          <a:xfrm>
            <a:off x="247650" y="2088936"/>
            <a:ext cx="11534993" cy="4483313"/>
          </a:xfrm>
        </p:spPr>
        <p:txBody>
          <a:bodyPr/>
          <a:lstStyle/>
          <a:p>
            <a:pPr marL="0" indent="0">
              <a:buNone/>
            </a:pPr>
            <a:r>
              <a:rPr lang="fr-FR" sz="2000" dirty="0"/>
              <a:t>Vous venez d’intégrer une agence immobilière, spécialisée dans la vente et la location de biens (appartement, maison, autres…) en France. </a:t>
            </a:r>
          </a:p>
          <a:p>
            <a:pPr lvl="0"/>
            <a:r>
              <a:rPr lang="fr-FR" sz="2000" dirty="0"/>
              <a:t>L’agence propose à la location et à la vente un certain nombre de biens situés géographiquement dans des départements et villes différentes en France. </a:t>
            </a:r>
          </a:p>
          <a:p>
            <a:pPr lvl="0"/>
            <a:r>
              <a:rPr lang="fr-FR" sz="2000" dirty="0"/>
              <a:t>Pour ce faire elle s’appuie sur son équipe d’agents immobiliers. </a:t>
            </a:r>
          </a:p>
          <a:p>
            <a:pPr lvl="0"/>
            <a:r>
              <a:rPr lang="fr-FR" sz="2000" dirty="0"/>
              <a:t>Un client peut acheter ou louer un ou plusieurs biens après avoir effectué une visite. </a:t>
            </a:r>
          </a:p>
          <a:p>
            <a:pPr lvl="0"/>
            <a:r>
              <a:rPr lang="fr-FR" sz="2000" dirty="0"/>
              <a:t>Le bien est proposé à un prix qui peut être différent de celui payé par le client après négociation. </a:t>
            </a:r>
          </a:p>
          <a:p>
            <a:pPr lvl="0"/>
            <a:r>
              <a:rPr lang="fr-FR" sz="2000" dirty="0"/>
              <a:t>Un bien peut être rattaché à un autre </a:t>
            </a:r>
            <a:r>
              <a:rPr lang="fr-FR" sz="2000" dirty="0" smtClean="0"/>
              <a:t>(c’est ce que l’on appelle un lot</a:t>
            </a:r>
            <a:r>
              <a:rPr lang="fr-FR" sz="2000" dirty="0"/>
              <a:t>) par exemple un garage, une cave ou un grenier peut être rattaché à un appartement ou une maison.</a:t>
            </a:r>
          </a:p>
          <a:p>
            <a:endParaRPr lang="fr-FR" dirty="0"/>
          </a:p>
        </p:txBody>
      </p:sp>
    </p:spTree>
    <p:extLst>
      <p:ext uri="{BB962C8B-B14F-4D97-AF65-F5344CB8AC3E}">
        <p14:creationId xmlns:p14="http://schemas.microsoft.com/office/powerpoint/2010/main" val="13537376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Cahier de charges</a:t>
            </a:r>
            <a:endParaRPr lang="fr-FR" dirty="0"/>
          </a:p>
        </p:txBody>
      </p:sp>
      <p:sp>
        <p:nvSpPr>
          <p:cNvPr id="3" name="Espace réservé du contenu 2"/>
          <p:cNvSpPr>
            <a:spLocks noGrp="1"/>
          </p:cNvSpPr>
          <p:nvPr>
            <p:ph idx="1"/>
          </p:nvPr>
        </p:nvSpPr>
        <p:spPr>
          <a:xfrm>
            <a:off x="272716" y="2222287"/>
            <a:ext cx="11566358" cy="4515398"/>
          </a:xfrm>
        </p:spPr>
        <p:txBody>
          <a:bodyPr>
            <a:normAutofit fontScale="77500" lnSpcReduction="20000"/>
          </a:bodyPr>
          <a:lstStyle/>
          <a:p>
            <a:pPr marL="0" indent="0">
              <a:buNone/>
            </a:pPr>
            <a:r>
              <a:rPr lang="fr-FR" dirty="0" smtClean="0"/>
              <a:t>L’agence vous </a:t>
            </a:r>
            <a:r>
              <a:rPr lang="fr-FR" dirty="0"/>
              <a:t>demande de produire les indicateurs suivants : </a:t>
            </a:r>
          </a:p>
          <a:p>
            <a:pPr lvl="0"/>
            <a:r>
              <a:rPr lang="fr-FR" dirty="0" smtClean="0"/>
              <a:t>Le </a:t>
            </a:r>
            <a:r>
              <a:rPr lang="fr-FR" dirty="0"/>
              <a:t>nombre de clients locataires par tranche d’âge (20 à 30 ans,31 à 50 ans et plus de 50 ans)</a:t>
            </a:r>
          </a:p>
          <a:p>
            <a:pPr lvl="0"/>
            <a:r>
              <a:rPr lang="fr-FR" dirty="0"/>
              <a:t>Le nombre de biens à rénover</a:t>
            </a:r>
          </a:p>
          <a:p>
            <a:pPr lvl="0"/>
            <a:r>
              <a:rPr lang="fr-FR" dirty="0"/>
              <a:t>La répartition des clients homme femmes (en pourcentage)</a:t>
            </a:r>
          </a:p>
          <a:p>
            <a:pPr lvl="0"/>
            <a:r>
              <a:rPr lang="fr-FR" dirty="0"/>
              <a:t>Le nombre de biens achetés ou loués par département et par région (avec un alerteur pour les valeurs au-dessus de 5)</a:t>
            </a:r>
          </a:p>
          <a:p>
            <a:pPr lvl="0"/>
            <a:r>
              <a:rPr lang="fr-FR" dirty="0"/>
              <a:t>Evolution chiffres d’affaires des biens achetés par année</a:t>
            </a:r>
          </a:p>
          <a:p>
            <a:pPr lvl="0"/>
            <a:r>
              <a:rPr lang="fr-FR" dirty="0"/>
              <a:t>La durée moyenne (en jours) entre la date de visite et la date de location ou d’achat</a:t>
            </a:r>
          </a:p>
          <a:p>
            <a:pPr lvl="0"/>
            <a:r>
              <a:rPr lang="fr-FR" dirty="0"/>
              <a:t>Le nombre de biens à la vente proposant la vente d’un lot supplémentaire de type </a:t>
            </a:r>
            <a:r>
              <a:rPr lang="fr-FR" dirty="0" smtClean="0"/>
              <a:t>garage</a:t>
            </a:r>
          </a:p>
          <a:p>
            <a:pPr marL="0" lvl="0" indent="0">
              <a:buNone/>
            </a:pPr>
            <a:endParaRPr lang="fr-FR" dirty="0"/>
          </a:p>
          <a:p>
            <a:pPr marL="0" lvl="0" indent="0">
              <a:buNone/>
            </a:pPr>
            <a:r>
              <a:rPr lang="fr-FR" b="1" dirty="0" smtClean="0"/>
              <a:t>Par </a:t>
            </a:r>
            <a:r>
              <a:rPr lang="fr-FR" b="1" dirty="0"/>
              <a:t>année</a:t>
            </a:r>
          </a:p>
          <a:p>
            <a:pPr lvl="0"/>
            <a:r>
              <a:rPr lang="fr-FR" dirty="0"/>
              <a:t>La chiffre d’affaires des biens vendus par agent en mettant évidence le Top 3</a:t>
            </a:r>
          </a:p>
          <a:p>
            <a:pPr lvl="0"/>
            <a:r>
              <a:rPr lang="fr-FR" dirty="0"/>
              <a:t>L’écart moyen entre le prix de vente du bien et le prix d’achat négocié par le client</a:t>
            </a:r>
          </a:p>
          <a:p>
            <a:pPr lvl="0"/>
            <a:r>
              <a:rPr lang="fr-FR" dirty="0"/>
              <a:t>Le prix moyen des biens loués</a:t>
            </a:r>
          </a:p>
          <a:p>
            <a:pPr lvl="0"/>
            <a:r>
              <a:rPr lang="fr-FR" dirty="0"/>
              <a:t>Le prix moyen de vente au mètre carré</a:t>
            </a:r>
          </a:p>
          <a:p>
            <a:pPr lvl="0"/>
            <a:r>
              <a:rPr lang="fr-FR" dirty="0"/>
              <a:t>Le nombre de biens vendus </a:t>
            </a:r>
            <a:r>
              <a:rPr lang="fr-FR" dirty="0" smtClean="0"/>
              <a:t> et le </a:t>
            </a:r>
            <a:r>
              <a:rPr lang="fr-FR" dirty="0"/>
              <a:t>nombre de biens </a:t>
            </a:r>
            <a:r>
              <a:rPr lang="fr-FR" dirty="0" smtClean="0"/>
              <a:t>loués par l’agence</a:t>
            </a:r>
            <a:endParaRPr lang="fr-FR" dirty="0"/>
          </a:p>
          <a:p>
            <a:endParaRPr lang="fr-FR" dirty="0"/>
          </a:p>
        </p:txBody>
      </p:sp>
    </p:spTree>
    <p:extLst>
      <p:ext uri="{BB962C8B-B14F-4D97-AF65-F5344CB8AC3E}">
        <p14:creationId xmlns:p14="http://schemas.microsoft.com/office/powerpoint/2010/main" val="20368378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a:stretch>
            <a:fillRect/>
          </a:stretch>
        </p:blipFill>
        <p:spPr>
          <a:xfrm>
            <a:off x="858982" y="0"/>
            <a:ext cx="10681854" cy="6858000"/>
          </a:xfrm>
          <a:prstGeom prst="rect">
            <a:avLst/>
          </a:prstGeom>
        </p:spPr>
      </p:pic>
    </p:spTree>
    <p:extLst>
      <p:ext uri="{BB962C8B-B14F-4D97-AF65-F5344CB8AC3E}">
        <p14:creationId xmlns:p14="http://schemas.microsoft.com/office/powerpoint/2010/main" val="24020919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La base de données</a:t>
            </a:r>
            <a:endParaRPr lang="fr-FR" dirty="0"/>
          </a:p>
        </p:txBody>
      </p:sp>
      <p:sp>
        <p:nvSpPr>
          <p:cNvPr id="3" name="Espace réservé du contenu 2"/>
          <p:cNvSpPr>
            <a:spLocks noGrp="1"/>
          </p:cNvSpPr>
          <p:nvPr>
            <p:ph idx="1"/>
          </p:nvPr>
        </p:nvSpPr>
        <p:spPr>
          <a:xfrm>
            <a:off x="552012" y="2095500"/>
            <a:ext cx="11297088" cy="4591050"/>
          </a:xfrm>
        </p:spPr>
        <p:txBody>
          <a:bodyPr>
            <a:normAutofit fontScale="77500" lnSpcReduction="20000"/>
          </a:bodyPr>
          <a:lstStyle/>
          <a:p>
            <a:endParaRPr lang="fr-FR" dirty="0"/>
          </a:p>
          <a:p>
            <a:r>
              <a:rPr lang="fr-FR" sz="2600" dirty="0"/>
              <a:t>Serveur de base de données Oracle :</a:t>
            </a:r>
          </a:p>
          <a:p>
            <a:r>
              <a:rPr lang="fr-FR" sz="2600" dirty="0" smtClean="0"/>
              <a:t>Base de données relationnelle sous SGBD Oracle</a:t>
            </a:r>
          </a:p>
          <a:p>
            <a:pPr lvl="1"/>
            <a:r>
              <a:rPr lang="fr-FR" sz="2600" dirty="0" smtClean="0"/>
              <a:t>Nom</a:t>
            </a:r>
            <a:r>
              <a:rPr lang="fr-FR" sz="2600" dirty="0"/>
              <a:t> : </a:t>
            </a:r>
            <a:r>
              <a:rPr lang="fr-FR" sz="2600" b="1" dirty="0"/>
              <a:t>iutdoua-ora.univ-lyon1.fr</a:t>
            </a:r>
            <a:endParaRPr lang="fr-FR" sz="2600" dirty="0"/>
          </a:p>
          <a:p>
            <a:pPr lvl="1"/>
            <a:r>
              <a:rPr lang="fr-FR" sz="2600" dirty="0"/>
              <a:t>Port : </a:t>
            </a:r>
            <a:r>
              <a:rPr lang="fr-FR" sz="2600" b="1" dirty="0"/>
              <a:t>1521</a:t>
            </a:r>
            <a:endParaRPr lang="fr-FR" sz="2600" dirty="0"/>
          </a:p>
          <a:p>
            <a:pPr lvl="1"/>
            <a:r>
              <a:rPr lang="fr-FR" sz="2600" dirty="0"/>
              <a:t>SID : </a:t>
            </a:r>
            <a:r>
              <a:rPr lang="fr-FR" sz="2600" b="1" dirty="0" smtClean="0"/>
              <a:t>CDB1</a:t>
            </a:r>
          </a:p>
          <a:p>
            <a:pPr lvl="1"/>
            <a:endParaRPr lang="fr-FR" sz="2600" dirty="0"/>
          </a:p>
          <a:p>
            <a:r>
              <a:rPr lang="fr-FR" sz="2600" dirty="0"/>
              <a:t>Sur les PC du département informatique ainsi que sur le serveur </a:t>
            </a:r>
            <a:r>
              <a:rPr lang="fr-FR" sz="2600" dirty="0" err="1"/>
              <a:t>iutdoua</a:t>
            </a:r>
            <a:r>
              <a:rPr lang="fr-FR" sz="2600" dirty="0"/>
              <a:t>-bi, une connexion ODBC Oracle est déjà paramétrée.</a:t>
            </a:r>
          </a:p>
          <a:p>
            <a:pPr lvl="1"/>
            <a:r>
              <a:rPr lang="fr-FR" sz="2600" b="1" dirty="0"/>
              <a:t>Votre compte oracle étudiant :</a:t>
            </a:r>
            <a:endParaRPr lang="fr-FR" sz="2600" dirty="0"/>
          </a:p>
          <a:p>
            <a:pPr lvl="1"/>
            <a:r>
              <a:rPr lang="fr-FR" sz="2600" b="1" dirty="0"/>
              <a:t>Login : numéro d’étudiant dont le premier chiffre doit être remplacer par p</a:t>
            </a:r>
            <a:endParaRPr lang="fr-FR" sz="2600" dirty="0"/>
          </a:p>
          <a:p>
            <a:pPr lvl="1"/>
            <a:r>
              <a:rPr lang="fr-FR" sz="2600" b="1" dirty="0" err="1"/>
              <a:t>Password</a:t>
            </a:r>
            <a:r>
              <a:rPr lang="fr-FR" sz="2600" b="1" dirty="0"/>
              <a:t> : numéro BIP présent sur la carte étudiante</a:t>
            </a:r>
            <a:endParaRPr lang="fr-FR" sz="2600" dirty="0"/>
          </a:p>
          <a:p>
            <a:endParaRPr lang="fr-FR" sz="2600" dirty="0" smtClean="0"/>
          </a:p>
          <a:p>
            <a:endParaRPr lang="fr-FR" dirty="0"/>
          </a:p>
        </p:txBody>
      </p:sp>
    </p:spTree>
    <p:extLst>
      <p:ext uri="{BB962C8B-B14F-4D97-AF65-F5344CB8AC3E}">
        <p14:creationId xmlns:p14="http://schemas.microsoft.com/office/powerpoint/2010/main" val="225946102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Réalisations</a:t>
            </a:r>
            <a:endParaRPr lang="fr-FR" dirty="0"/>
          </a:p>
        </p:txBody>
      </p:sp>
      <p:sp>
        <p:nvSpPr>
          <p:cNvPr id="3" name="Espace réservé du contenu 2"/>
          <p:cNvSpPr>
            <a:spLocks noGrp="1"/>
          </p:cNvSpPr>
          <p:nvPr>
            <p:ph idx="1"/>
          </p:nvPr>
        </p:nvSpPr>
        <p:spPr>
          <a:xfrm>
            <a:off x="449743" y="1973179"/>
            <a:ext cx="11309119" cy="4507832"/>
          </a:xfrm>
        </p:spPr>
        <p:txBody>
          <a:bodyPr>
            <a:normAutofit/>
          </a:bodyPr>
          <a:lstStyle/>
          <a:p>
            <a:r>
              <a:rPr lang="fr-FR" dirty="0" smtClean="0"/>
              <a:t>Une présentation </a:t>
            </a:r>
          </a:p>
          <a:p>
            <a:r>
              <a:rPr lang="fr-FR" dirty="0" smtClean="0"/>
              <a:t>Un ou plusieurs tableaux de bord</a:t>
            </a:r>
          </a:p>
          <a:p>
            <a:r>
              <a:rPr lang="fr-FR" dirty="0" smtClean="0"/>
              <a:t>Un rendu ; un compte rendu de projet </a:t>
            </a:r>
          </a:p>
          <a:p>
            <a:pPr lvl="1"/>
            <a:r>
              <a:rPr lang="fr-FR" dirty="0" smtClean="0"/>
              <a:t>Rétro planning</a:t>
            </a:r>
          </a:p>
          <a:p>
            <a:pPr lvl="1"/>
            <a:r>
              <a:rPr lang="fr-FR" dirty="0" smtClean="0"/>
              <a:t>Modélisation </a:t>
            </a:r>
          </a:p>
          <a:p>
            <a:pPr lvl="1"/>
            <a:r>
              <a:rPr lang="fr-FR" dirty="0" smtClean="0"/>
              <a:t>Choix des outils et technologies</a:t>
            </a:r>
          </a:p>
          <a:p>
            <a:pPr lvl="1"/>
            <a:r>
              <a:rPr lang="fr-FR" dirty="0" smtClean="0"/>
              <a:t>Méthode de calcul des indicateurs</a:t>
            </a:r>
          </a:p>
          <a:p>
            <a:pPr lvl="1"/>
            <a:r>
              <a:rPr lang="fr-FR" dirty="0" smtClean="0"/>
              <a:t>Choix des graphes /tableaux</a:t>
            </a:r>
          </a:p>
          <a:p>
            <a:pPr marL="457200" lvl="1" indent="0">
              <a:buNone/>
            </a:pPr>
            <a:r>
              <a:rPr lang="fr-FR" dirty="0"/>
              <a:t/>
            </a:r>
            <a:br>
              <a:rPr lang="fr-FR" dirty="0"/>
            </a:br>
            <a:endParaRPr lang="fr-FR" dirty="0"/>
          </a:p>
          <a:p>
            <a:endParaRPr lang="fr-FR" dirty="0"/>
          </a:p>
        </p:txBody>
      </p:sp>
      <p:sp>
        <p:nvSpPr>
          <p:cNvPr id="4" name="ZoneTexte 3"/>
          <p:cNvSpPr txBox="1"/>
          <p:nvPr/>
        </p:nvSpPr>
        <p:spPr>
          <a:xfrm>
            <a:off x="6288505" y="2679032"/>
            <a:ext cx="4539916" cy="2308324"/>
          </a:xfrm>
          <a:prstGeom prst="rect">
            <a:avLst/>
          </a:prstGeom>
          <a:noFill/>
        </p:spPr>
        <p:txBody>
          <a:bodyPr wrap="square" rtlCol="0">
            <a:spAutoFit/>
          </a:bodyPr>
          <a:lstStyle/>
          <a:p>
            <a:r>
              <a:rPr lang="fr-FR" sz="3600" b="1" dirty="0" smtClean="0"/>
              <a:t>PENSEZ A ENREGISTRER VOS TRAVAUX A CHAQUE SEANCE</a:t>
            </a:r>
            <a:endParaRPr lang="fr-FR" sz="3600" b="1" dirty="0"/>
          </a:p>
        </p:txBody>
      </p:sp>
    </p:spTree>
    <p:extLst>
      <p:ext uri="{BB962C8B-B14F-4D97-AF65-F5344CB8AC3E}">
        <p14:creationId xmlns:p14="http://schemas.microsoft.com/office/powerpoint/2010/main" val="382911805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Spécifications fonctionnelles (QUOI)</a:t>
            </a:r>
            <a:endParaRPr lang="fr-FR" dirty="0"/>
          </a:p>
        </p:txBody>
      </p:sp>
      <p:sp>
        <p:nvSpPr>
          <p:cNvPr id="3" name="Espace réservé du contenu 2"/>
          <p:cNvSpPr>
            <a:spLocks noGrp="1"/>
          </p:cNvSpPr>
          <p:nvPr>
            <p:ph idx="1"/>
          </p:nvPr>
        </p:nvSpPr>
        <p:spPr>
          <a:xfrm>
            <a:off x="190280" y="2101517"/>
            <a:ext cx="11811438" cy="3946358"/>
          </a:xfrm>
        </p:spPr>
        <p:txBody>
          <a:bodyPr>
            <a:normAutofit/>
          </a:bodyPr>
          <a:lstStyle/>
          <a:p>
            <a:pPr lvl="1"/>
            <a:r>
              <a:rPr lang="fr-FR" sz="2000" dirty="0" smtClean="0"/>
              <a:t>Phase </a:t>
            </a:r>
            <a:r>
              <a:rPr lang="fr-FR" sz="2000" dirty="0"/>
              <a:t>1. </a:t>
            </a:r>
            <a:r>
              <a:rPr lang="fr-FR" sz="2000" dirty="0" smtClean="0"/>
              <a:t>Identification  : Quel </a:t>
            </a:r>
            <a:r>
              <a:rPr lang="fr-FR" sz="2000" dirty="0"/>
              <a:t>est le contexte </a:t>
            </a:r>
            <a:r>
              <a:rPr lang="fr-FR" sz="2000" dirty="0" smtClean="0"/>
              <a:t>? Quel est la demande ? Quel est le besoin ? </a:t>
            </a:r>
            <a:r>
              <a:rPr lang="fr-FR" sz="2000" dirty="0" smtClean="0">
                <a:solidFill>
                  <a:schemeClr val="accent1"/>
                </a:solidFill>
              </a:rPr>
              <a:t>Définition des indicateurs, calculs des faits , choix des dimensions</a:t>
            </a:r>
            <a:endParaRPr lang="fr-FR" sz="2000" dirty="0">
              <a:solidFill>
                <a:schemeClr val="accent1"/>
              </a:solidFill>
            </a:endParaRPr>
          </a:p>
          <a:p>
            <a:pPr lvl="1"/>
            <a:r>
              <a:rPr lang="fr-FR" sz="2000" dirty="0" smtClean="0"/>
              <a:t>Phase </a:t>
            </a:r>
            <a:r>
              <a:rPr lang="fr-FR" sz="2000" dirty="0"/>
              <a:t>2. </a:t>
            </a:r>
            <a:r>
              <a:rPr lang="fr-FR" sz="2000" dirty="0" smtClean="0"/>
              <a:t>Analyse et Conception  : Que </a:t>
            </a:r>
            <a:r>
              <a:rPr lang="fr-FR" sz="2000" dirty="0"/>
              <a:t>faut-il faire </a:t>
            </a:r>
            <a:r>
              <a:rPr lang="fr-FR" sz="2000" dirty="0" smtClean="0"/>
              <a:t>? Comment s’organise-t-on ? Qui fait quoi ? </a:t>
            </a:r>
            <a:r>
              <a:rPr lang="fr-FR" sz="2000" dirty="0" err="1" smtClean="0">
                <a:solidFill>
                  <a:schemeClr val="accent1"/>
                </a:solidFill>
              </a:rPr>
              <a:t>Retroplanning</a:t>
            </a:r>
            <a:r>
              <a:rPr lang="fr-FR" sz="2000" dirty="0" smtClean="0">
                <a:solidFill>
                  <a:schemeClr val="accent1"/>
                </a:solidFill>
              </a:rPr>
              <a:t>, Modélisation</a:t>
            </a:r>
            <a:r>
              <a:rPr lang="fr-FR" sz="2000" dirty="0" smtClean="0"/>
              <a:t> </a:t>
            </a:r>
          </a:p>
          <a:p>
            <a:pPr lvl="1"/>
            <a:r>
              <a:rPr lang="fr-FR" sz="2000" dirty="0" smtClean="0"/>
              <a:t>Phase </a:t>
            </a:r>
            <a:r>
              <a:rPr lang="fr-FR" sz="2000" dirty="0"/>
              <a:t>3. Mise en </a:t>
            </a:r>
            <a:r>
              <a:rPr lang="fr-FR" sz="2000" dirty="0" smtClean="0"/>
              <a:t>œuvre  : Comment </a:t>
            </a:r>
            <a:r>
              <a:rPr lang="fr-FR" sz="2000" dirty="0"/>
              <a:t>le faire </a:t>
            </a:r>
            <a:r>
              <a:rPr lang="fr-FR" sz="2000" dirty="0" smtClean="0"/>
              <a:t>? Quel outils ? Quelle visualisation ? </a:t>
            </a:r>
            <a:r>
              <a:rPr lang="fr-FR" sz="2000" dirty="0" err="1" smtClean="0">
                <a:solidFill>
                  <a:schemeClr val="accent1"/>
                </a:solidFill>
              </a:rPr>
              <a:t>ETL,Reporting</a:t>
            </a:r>
            <a:endParaRPr lang="fr-FR" sz="2000" dirty="0">
              <a:solidFill>
                <a:schemeClr val="accent1"/>
              </a:solidFill>
            </a:endParaRPr>
          </a:p>
          <a:p>
            <a:pPr lvl="1"/>
            <a:r>
              <a:rPr lang="fr-FR" sz="2000" dirty="0" smtClean="0"/>
              <a:t>Phase </a:t>
            </a:r>
            <a:r>
              <a:rPr lang="fr-FR" sz="2000" dirty="0"/>
              <a:t>4. </a:t>
            </a:r>
            <a:r>
              <a:rPr lang="fr-FR" sz="2000" dirty="0" smtClean="0"/>
              <a:t>Suivi et Contrôle : Est-ce que j’ai répondu au besoin ? Est-ce que cela fonctionne ? Est-ce que les données sont justes et cohérentes ?</a:t>
            </a:r>
            <a:endParaRPr lang="fr-FR" sz="2000" dirty="0"/>
          </a:p>
        </p:txBody>
      </p:sp>
    </p:spTree>
    <p:extLst>
      <p:ext uri="{BB962C8B-B14F-4D97-AF65-F5344CB8AC3E}">
        <p14:creationId xmlns:p14="http://schemas.microsoft.com/office/powerpoint/2010/main" val="602690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Modélisation</a:t>
            </a:r>
            <a:endParaRPr lang="fr-FR" dirty="0"/>
          </a:p>
        </p:txBody>
      </p:sp>
      <p:sp>
        <p:nvSpPr>
          <p:cNvPr id="3" name="Espace réservé du texte 2"/>
          <p:cNvSpPr>
            <a:spLocks noGrp="1"/>
          </p:cNvSpPr>
          <p:nvPr>
            <p:ph type="body" idx="1"/>
          </p:nvPr>
        </p:nvSpPr>
        <p:spPr/>
        <p:txBody>
          <a:bodyPr/>
          <a:lstStyle/>
          <a:p>
            <a:endParaRPr lang="fr-FR"/>
          </a:p>
        </p:txBody>
      </p:sp>
    </p:spTree>
    <p:extLst>
      <p:ext uri="{BB962C8B-B14F-4D97-AF65-F5344CB8AC3E}">
        <p14:creationId xmlns:p14="http://schemas.microsoft.com/office/powerpoint/2010/main" val="76896827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Modélisation en flocon</a:t>
            </a:r>
            <a:endParaRPr lang="fr-FR" dirty="0"/>
          </a:p>
        </p:txBody>
      </p:sp>
      <p:sp>
        <p:nvSpPr>
          <p:cNvPr id="3" name="Espace réservé du contenu 2"/>
          <p:cNvSpPr>
            <a:spLocks noGrp="1"/>
          </p:cNvSpPr>
          <p:nvPr>
            <p:ph idx="1"/>
          </p:nvPr>
        </p:nvSpPr>
        <p:spPr/>
        <p:txBody>
          <a:bodyPr>
            <a:normAutofit fontScale="85000" lnSpcReduction="20000"/>
          </a:bodyPr>
          <a:lstStyle/>
          <a:p>
            <a:pPr marL="0" indent="0">
              <a:buNone/>
            </a:pPr>
            <a:r>
              <a:rPr lang="fr-FR" dirty="0"/>
              <a:t>Modèle en étoile + normalisation des tables  :  la table de dimension de niveau hiérarchique le plus bas  est reliée au fait (elle a la granularité la plus fine)</a:t>
            </a:r>
          </a:p>
          <a:p>
            <a:pPr marL="0" indent="0">
              <a:buNone/>
            </a:pPr>
            <a:endParaRPr lang="fr-FR" dirty="0" smtClean="0"/>
          </a:p>
          <a:p>
            <a:r>
              <a:rPr lang="fr-FR" dirty="0" smtClean="0"/>
              <a:t>Quelles sont vos tables de dimension ? </a:t>
            </a:r>
          </a:p>
          <a:p>
            <a:r>
              <a:rPr lang="fr-FR" dirty="0" smtClean="0"/>
              <a:t>Quelles sont vos hiérarchies ?</a:t>
            </a:r>
          </a:p>
          <a:p>
            <a:r>
              <a:rPr lang="fr-FR" dirty="0" smtClean="0"/>
              <a:t>Quels éléments de dimensions devez vous calculer ?</a:t>
            </a:r>
          </a:p>
          <a:p>
            <a:r>
              <a:rPr lang="fr-FR" dirty="0" smtClean="0"/>
              <a:t>Quelle granularité pour la dimension temps ?</a:t>
            </a:r>
          </a:p>
          <a:p>
            <a:r>
              <a:rPr lang="fr-FR" dirty="0" smtClean="0"/>
              <a:t>Création de clef </a:t>
            </a:r>
            <a:r>
              <a:rPr lang="fr-FR" dirty="0" err="1" smtClean="0"/>
              <a:t>dr</a:t>
            </a:r>
            <a:r>
              <a:rPr lang="fr-FR" dirty="0" smtClean="0"/>
              <a:t> substitution si nécessaire</a:t>
            </a:r>
          </a:p>
          <a:p>
            <a:r>
              <a:rPr lang="fr-FR" dirty="0" smtClean="0"/>
              <a:t>Gestion de la récursivité</a:t>
            </a:r>
          </a:p>
          <a:p>
            <a:r>
              <a:rPr lang="fr-FR" dirty="0" smtClean="0"/>
              <a:t>Table de faits</a:t>
            </a:r>
          </a:p>
          <a:p>
            <a:endParaRPr lang="fr-FR" dirty="0" smtClean="0"/>
          </a:p>
          <a:p>
            <a:pPr marL="0" indent="0">
              <a:buNone/>
            </a:pPr>
            <a:r>
              <a:rPr lang="fr-FR" dirty="0" smtClean="0"/>
              <a:t>Rendu : faire un tableau puis dessiner votre modèle en flocon</a:t>
            </a:r>
          </a:p>
          <a:p>
            <a:endParaRPr lang="fr-FR" dirty="0"/>
          </a:p>
        </p:txBody>
      </p:sp>
    </p:spTree>
    <p:extLst>
      <p:ext uri="{BB962C8B-B14F-4D97-AF65-F5344CB8AC3E}">
        <p14:creationId xmlns:p14="http://schemas.microsoft.com/office/powerpoint/2010/main" val="166895811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La dimension temps</a:t>
            </a:r>
            <a:endParaRPr lang="fr-FR" dirty="0"/>
          </a:p>
        </p:txBody>
      </p:sp>
      <p:sp>
        <p:nvSpPr>
          <p:cNvPr id="3" name="Espace réservé du contenu 2"/>
          <p:cNvSpPr>
            <a:spLocks noGrp="1"/>
          </p:cNvSpPr>
          <p:nvPr>
            <p:ph idx="1"/>
          </p:nvPr>
        </p:nvSpPr>
        <p:spPr/>
        <p:txBody>
          <a:bodyPr/>
          <a:lstStyle/>
          <a:p>
            <a:r>
              <a:rPr lang="fr-FR" dirty="0" smtClean="0"/>
              <a:t>Dimensions particulière , définir quelle granularité ?</a:t>
            </a:r>
          </a:p>
          <a:p>
            <a:r>
              <a:rPr lang="fr-FR" dirty="0" smtClean="0"/>
              <a:t>Comment allez-vous créer cette </a:t>
            </a:r>
            <a:r>
              <a:rPr lang="fr-FR" smtClean="0"/>
              <a:t>hiérarchie temps ?</a:t>
            </a:r>
            <a:endParaRPr lang="fr-FR" dirty="0"/>
          </a:p>
        </p:txBody>
      </p:sp>
    </p:spTree>
    <p:extLst>
      <p:ext uri="{BB962C8B-B14F-4D97-AF65-F5344CB8AC3E}">
        <p14:creationId xmlns:p14="http://schemas.microsoft.com/office/powerpoint/2010/main" val="408196960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a:stretch>
            <a:fillRect/>
          </a:stretch>
        </p:blipFill>
        <p:spPr>
          <a:xfrm>
            <a:off x="1251284" y="511070"/>
            <a:ext cx="9416716" cy="5671606"/>
          </a:xfrm>
          <a:prstGeom prst="rect">
            <a:avLst/>
          </a:prstGeom>
        </p:spPr>
      </p:pic>
    </p:spTree>
    <p:extLst>
      <p:ext uri="{BB962C8B-B14F-4D97-AF65-F5344CB8AC3E}">
        <p14:creationId xmlns:p14="http://schemas.microsoft.com/office/powerpoint/2010/main" val="419528673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Restitution </a:t>
            </a:r>
            <a:endParaRPr lang="fr-FR" dirty="0"/>
          </a:p>
        </p:txBody>
      </p:sp>
      <p:sp>
        <p:nvSpPr>
          <p:cNvPr id="3" name="Espace réservé du texte 2"/>
          <p:cNvSpPr>
            <a:spLocks noGrp="1"/>
          </p:cNvSpPr>
          <p:nvPr>
            <p:ph type="body" idx="1"/>
          </p:nvPr>
        </p:nvSpPr>
        <p:spPr/>
        <p:txBody>
          <a:bodyPr/>
          <a:lstStyle/>
          <a:p>
            <a:endParaRPr lang="fr-FR"/>
          </a:p>
        </p:txBody>
      </p:sp>
    </p:spTree>
    <p:extLst>
      <p:ext uri="{BB962C8B-B14F-4D97-AF65-F5344CB8AC3E}">
        <p14:creationId xmlns:p14="http://schemas.microsoft.com/office/powerpoint/2010/main" val="422994638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p:cNvPicPr>
            <a:picLocks noChangeAspect="1"/>
          </p:cNvPicPr>
          <p:nvPr/>
        </p:nvPicPr>
        <p:blipFill>
          <a:blip r:embed="rId2"/>
          <a:stretch>
            <a:fillRect/>
          </a:stretch>
        </p:blipFill>
        <p:spPr>
          <a:xfrm>
            <a:off x="2366962" y="376237"/>
            <a:ext cx="7458075" cy="6105525"/>
          </a:xfrm>
          <a:prstGeom prst="rect">
            <a:avLst/>
          </a:prstGeom>
        </p:spPr>
      </p:pic>
    </p:spTree>
    <p:extLst>
      <p:ext uri="{BB962C8B-B14F-4D97-AF65-F5344CB8AC3E}">
        <p14:creationId xmlns:p14="http://schemas.microsoft.com/office/powerpoint/2010/main" val="314367342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a:stretch>
            <a:fillRect/>
          </a:stretch>
        </p:blipFill>
        <p:spPr>
          <a:xfrm>
            <a:off x="1007707" y="458507"/>
            <a:ext cx="9436456" cy="5508906"/>
          </a:xfrm>
          <a:prstGeom prst="rect">
            <a:avLst/>
          </a:prstGeom>
        </p:spPr>
      </p:pic>
    </p:spTree>
    <p:extLst>
      <p:ext uri="{BB962C8B-B14F-4D97-AF65-F5344CB8AC3E}">
        <p14:creationId xmlns:p14="http://schemas.microsoft.com/office/powerpoint/2010/main" val="275977358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is">
  <a:themeElements>
    <a:clrScheme name="Quotable">
      <a:dk1>
        <a:sysClr val="windowText" lastClr="000000"/>
      </a:dk1>
      <a:lt1>
        <a:sysClr val="window" lastClr="FFFFFF"/>
      </a:lt1>
      <a:dk2>
        <a:srgbClr val="212121"/>
      </a:dk2>
      <a:lt2>
        <a:srgbClr val="636363"/>
      </a:lt2>
      <a:accent1>
        <a:srgbClr val="00C6BB"/>
      </a:accent1>
      <a:accent2>
        <a:srgbClr val="6FEBA0"/>
      </a:accent2>
      <a:accent3>
        <a:srgbClr val="B6DF5E"/>
      </a:accent3>
      <a:accent4>
        <a:srgbClr val="EFB251"/>
      </a:accent4>
      <a:accent5>
        <a:srgbClr val="EF755F"/>
      </a:accent5>
      <a:accent6>
        <a:srgbClr val="ED515C"/>
      </a:accent6>
      <a:hlink>
        <a:srgbClr val="8F8F8F"/>
      </a:hlink>
      <a:folHlink>
        <a:srgbClr val="A5A5A5"/>
      </a:folHlink>
    </a:clrScheme>
    <a:fontScheme name="Quotable">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Quotable">
      <a:fillStyleLst>
        <a:solidFill>
          <a:schemeClr val="phClr"/>
        </a:solidFill>
        <a:gradFill rotWithShape="1">
          <a:gsLst>
            <a:gs pos="0">
              <a:schemeClr val="phClr">
                <a:tint val="80000"/>
                <a:lumMod val="105000"/>
              </a:schemeClr>
            </a:gs>
            <a:gs pos="100000">
              <a:schemeClr val="phClr">
                <a:tint val="90000"/>
              </a:schemeClr>
            </a:gs>
          </a:gsLst>
          <a:lin ang="5400000" scaled="0"/>
        </a:gradFill>
        <a:blipFill rotWithShape="1">
          <a:blip xmlns:r="http://schemas.openxmlformats.org/officeDocument/2006/relationships" r:embed="rId1">
            <a:duotone>
              <a:schemeClr val="phClr">
                <a:tint val="98000"/>
                <a:lumMod val="102000"/>
              </a:schemeClr>
              <a:schemeClr val="phClr">
                <a:shade val="98000"/>
                <a:lumMod val="98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effectStyle>
        <a:effectStyle>
          <a:effectLst>
            <a:innerShdw blurRad="63500" dist="25400" dir="13500000">
              <a:srgbClr val="000000">
                <a:alpha val="75000"/>
              </a:srgbClr>
            </a:innerShdw>
          </a:effectLst>
        </a:effectStyle>
      </a:effectStyleLst>
      <a:bgFillStyleLst>
        <a:solidFill>
          <a:schemeClr val="phClr"/>
        </a:solidFill>
        <a:gradFill rotWithShape="1">
          <a:gsLst>
            <a:gs pos="0">
              <a:schemeClr val="phClr">
                <a:tint val="100000"/>
              </a:schemeClr>
            </a:gs>
            <a:gs pos="100000">
              <a:schemeClr val="phClr">
                <a:tint val="84000"/>
                <a:shade val="84000"/>
                <a:lumMod val="90000"/>
              </a:schemeClr>
            </a:gs>
          </a:gsLst>
          <a:lin ang="5400000" scaled="0"/>
        </a:gradFill>
        <a:gradFill rotWithShape="1">
          <a:gsLst>
            <a:gs pos="0">
              <a:schemeClr val="phClr">
                <a:tint val="84000"/>
                <a:shade val="90000"/>
                <a:satMod val="120000"/>
                <a:lumMod val="90000"/>
              </a:schemeClr>
            </a:gs>
            <a:gs pos="100000">
              <a:schemeClr val="phClr"/>
            </a:gs>
          </a:gsLst>
          <a:lin ang="5400000" scaled="0"/>
        </a:gradFill>
      </a:bgFillStyleLst>
    </a:fmtScheme>
  </a:themeElements>
  <a:objectDefaults/>
  <a:extraClrSchemeLst/>
  <a:extLst>
    <a:ext uri="{05A4C25C-085E-4340-85A3-A5531E510DB2}">
      <thm15:themeFamily xmlns:thm15="http://schemas.microsoft.com/office/thememl/2012/main" name="Quotable" id="{39EC5628-30ED-4578-ACD8-9820EDB8E15A}" vid="{6F3559E9-1A4C-49D8-94D4-F41003531C49}"/>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Concis</Template>
  <TotalTime>5891</TotalTime>
  <Words>2672</Words>
  <Application>Microsoft Office PowerPoint</Application>
  <PresentationFormat>Grand écran</PresentationFormat>
  <Paragraphs>202</Paragraphs>
  <Slides>36</Slides>
  <Notes>15</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36</vt:i4>
      </vt:variant>
    </vt:vector>
  </HeadingPairs>
  <TitlesOfParts>
    <vt:vector size="41" baseType="lpstr">
      <vt:lpstr>Arial</vt:lpstr>
      <vt:lpstr>Calibri</vt:lpstr>
      <vt:lpstr>Century Gothic</vt:lpstr>
      <vt:lpstr>Wingdings 2</vt:lpstr>
      <vt:lpstr>Concis</vt:lpstr>
      <vt:lpstr>Outils et plateformes</vt:lpstr>
      <vt:lpstr>Présentation</vt:lpstr>
      <vt:lpstr>Présentation</vt:lpstr>
      <vt:lpstr>Objectifs du cours</vt:lpstr>
      <vt:lpstr>Déroulement et méthodologie du cours</vt:lpstr>
      <vt:lpstr>Quelques définitions</vt:lpstr>
      <vt:lpstr>Quelques définitions</vt:lpstr>
      <vt:lpstr>Quelques définitions</vt:lpstr>
      <vt:lpstr>Quelques définitions</vt:lpstr>
      <vt:lpstr>Quelques définitions</vt:lpstr>
      <vt:lpstr>Quelques définitions</vt:lpstr>
      <vt:lpstr>Quelques définitions</vt:lpstr>
      <vt:lpstr>Quelques définitions</vt:lpstr>
      <vt:lpstr>De la donnée vers la data… </vt:lpstr>
      <vt:lpstr>De la donnée opérationnelle vers la donnée décisionnelle</vt:lpstr>
      <vt:lpstr>Présentation PowerPoint</vt:lpstr>
      <vt:lpstr>Les étapes de la Business Intelligence</vt:lpstr>
      <vt:lpstr>Piloter : un travail d’équipe</vt:lpstr>
      <vt:lpstr>Une pluralité d’acteurs</vt:lpstr>
      <vt:lpstr>Les clefs d’une bonne restitution ?</vt:lpstr>
      <vt:lpstr>Les clefs d’une bonne restitution</vt:lpstr>
      <vt:lpstr>Projet : analyse d’un cas </vt:lpstr>
      <vt:lpstr>Composition des groupes</vt:lpstr>
      <vt:lpstr>L’Agence immobilière</vt:lpstr>
      <vt:lpstr>Cahier de charges</vt:lpstr>
      <vt:lpstr>Présentation PowerPoint</vt:lpstr>
      <vt:lpstr>La base de données</vt:lpstr>
      <vt:lpstr>Réalisations</vt:lpstr>
      <vt:lpstr>Spécifications fonctionnelles (QUOI)</vt:lpstr>
      <vt:lpstr>Modélisation</vt:lpstr>
      <vt:lpstr>Modélisation en flocon</vt:lpstr>
      <vt:lpstr>La dimension temps</vt:lpstr>
      <vt:lpstr>Présentation PowerPoint</vt:lpstr>
      <vt:lpstr>Restitution </vt:lpstr>
      <vt:lpstr>Présentation PowerPoint</vt:lpstr>
      <vt:lpstr>Présentation PowerPoint</vt:lpstr>
    </vt:vector>
  </TitlesOfParts>
  <Company>ACADEMIE DE LYON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Outils et plateformes</dc:title>
  <dc:creator>rbondaz</dc:creator>
  <cp:lastModifiedBy>rbondaz</cp:lastModifiedBy>
  <cp:revision>56</cp:revision>
  <dcterms:created xsi:type="dcterms:W3CDTF">2023-11-20T10:27:02Z</dcterms:created>
  <dcterms:modified xsi:type="dcterms:W3CDTF">2026-01-28T10:56:11Z</dcterms:modified>
</cp:coreProperties>
</file>